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74" r:id="rId11"/>
    <p:sldId id="276" r:id="rId12"/>
    <p:sldId id="268" r:id="rId13"/>
    <p:sldId id="277" r:id="rId14"/>
    <p:sldId id="269" r:id="rId15"/>
    <p:sldId id="270" r:id="rId16"/>
    <p:sldId id="282" r:id="rId17"/>
    <p:sldId id="281" r:id="rId18"/>
    <p:sldId id="280" r:id="rId19"/>
    <p:sldId id="278" r:id="rId20"/>
    <p:sldId id="279" r:id="rId21"/>
    <p:sldId id="265" r:id="rId22"/>
    <p:sldId id="266" r:id="rId23"/>
    <p:sldId id="267" r:id="rId24"/>
  </p:sldIdLst>
  <p:sldSz cx="18288000" cy="10287000"/>
  <p:notesSz cx="6858000" cy="9144000"/>
  <p:embeddedFontLst>
    <p:embeddedFont>
      <p:font typeface="Aileron" panose="020B0604020202020204" charset="0"/>
      <p:regular r:id="rId26"/>
    </p:embeddedFont>
    <p:embeddedFont>
      <p:font typeface="Aileron Bold" panose="020B0604020202020204" charset="0"/>
      <p:regular r:id="rId27"/>
    </p:embeddedFont>
    <p:embeddedFont>
      <p:font typeface="Consolas" panose="020B0609020204030204" pitchFamily="49" charset="0"/>
      <p:regular r:id="rId28"/>
      <p:bold r:id="rId29"/>
      <p:italic r:id="rId30"/>
      <p:boldItalic r:id="rId31"/>
    </p:embeddedFont>
    <p:embeddedFont>
      <p:font typeface="Georgia" panose="02040502050405020303" pitchFamily="18" charset="0"/>
      <p:regular r:id="rId32"/>
      <p:bold r:id="rId33"/>
      <p:italic r:id="rId34"/>
      <p:boldItalic r:id="rId35"/>
    </p:embeddedFont>
    <p:embeddedFont>
      <p:font typeface="Open Sans" panose="020B0606030504020204" pitchFamily="34" charset="0"/>
      <p:regular r:id="rId36"/>
      <p:bold r:id="rId37"/>
      <p:italic r:id="rId38"/>
      <p:boldItalic r:id="rId39"/>
    </p:embeddedFont>
    <p:embeddedFont>
      <p:font typeface="Roboto" panose="02000000000000000000" pitchFamily="2" charset="0"/>
      <p:regular r:id="rId40"/>
      <p:bold r:id="rId41"/>
      <p:italic r:id="rId42"/>
      <p:boldItalic r:id="rId43"/>
    </p:embeddedFont>
    <p:embeddedFont>
      <p:font typeface="Roboto Bold" panose="02000000000000000000" charset="0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90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588891-452D-4C35-B5F2-55D59D09187E}" type="datetimeFigureOut">
              <a:rPr lang="es-CO" smtClean="0"/>
              <a:t>28/09/2026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F3B695-2EF1-4C74-8633-44D8957182F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2700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NbQJ-HRZvU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</a:t>
            </a:r>
            <a:r>
              <a:rPr lang="es-CO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</a:t>
            </a:r>
            <a:r>
              <a:rPr lang="es-CO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-Based Loss (Temporal </a:t>
            </a:r>
            <a:r>
              <a:rPr lang="es-CO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Difference</a:t>
            </a:r>
            <a:r>
              <a:rPr lang="es-CO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Error)</a:t>
            </a:r>
          </a:p>
          <a:p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value-based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methods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Q-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DQN),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predicts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expected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future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reward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state-action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pair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written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Q(S, A). [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1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]</a:t>
            </a:r>
          </a:p>
          <a:p>
            <a:pPr lvl="0"/>
            <a:r>
              <a:rPr lang="es-CO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Bellman Target: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target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combines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immediate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reward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(R) and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discounted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maximum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future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(γ Q(S', A')).</a:t>
            </a:r>
          </a:p>
          <a:p>
            <a:pPr lvl="0"/>
            <a:r>
              <a:rPr lang="es-CO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Error Formula: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difference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target and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current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Temporal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Difference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(TD) error:</a:t>
            </a:r>
            <a:b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\(\delta =R+\gamma Q(S^{\prime },A^{\prime })-Q(S,A)\)</a:t>
            </a:r>
          </a:p>
          <a:p>
            <a:pPr lvl="0"/>
            <a:r>
              <a:rPr lang="es-CO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Loss </a:t>
            </a:r>
            <a:r>
              <a:rPr lang="es-CO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</a:t>
            </a:r>
            <a:r>
              <a:rPr lang="es-CO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Squaring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error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creates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standard mean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squared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error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loss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CO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</a:t>
            </a: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b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s-CO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\(L(W)=[R+\gamma Q(S^{\prime },A^{\prime })-Q(S,A)]^{2}\)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953A8-A047-BC02-D151-E3DC46E7F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F3FE05-73BD-11CF-06D1-8EE990C111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F9354A-5676-3F58-7FB9-ED45F1BC78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0F11A-4CA5-2CE1-1AC9-3780020CE1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0908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2B55C-CE51-1BC5-A8B6-E5922BFB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922559-F9F1-26C7-4913-1A61630A5A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8DE20C-F528-7F3E-02B4-DEC0D6260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D6E209-1DFB-487B-A9C8-625F69C959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7109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26D4B-F09E-4A6E-0827-C41795F7A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90560E-6EB9-7149-46B2-4B9BC6B8A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4825B3-64AA-A8C1-DA91-A398E238DA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5141C-4236-39DC-4890-12AF837883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6297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200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3.svg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" b="-555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 flipH="1" flipV="1">
            <a:off x="0" y="-1728835"/>
            <a:ext cx="18288000" cy="11315700"/>
          </a:xfrm>
          <a:custGeom>
            <a:avLst/>
            <a:gdLst/>
            <a:ahLst/>
            <a:cxnLst/>
            <a:rect l="l" t="t" r="r" b="b"/>
            <a:pathLst>
              <a:path w="18288000" h="11315700">
                <a:moveTo>
                  <a:pt x="18288000" y="11315700"/>
                </a:moveTo>
                <a:lnTo>
                  <a:pt x="0" y="113157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1315700"/>
                </a:lnTo>
                <a:close/>
              </a:path>
            </a:pathLst>
          </a:custGeom>
          <a:blipFill>
            <a:blip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Freeform 4"/>
          <p:cNvSpPr/>
          <p:nvPr/>
        </p:nvSpPr>
        <p:spPr>
          <a:xfrm>
            <a:off x="1992479" y="2849753"/>
            <a:ext cx="1519062" cy="251336"/>
          </a:xfrm>
          <a:custGeom>
            <a:avLst/>
            <a:gdLst/>
            <a:ahLst/>
            <a:cxnLst/>
            <a:rect l="l" t="t" r="r" b="b"/>
            <a:pathLst>
              <a:path w="1519062" h="251336">
                <a:moveTo>
                  <a:pt x="0" y="0"/>
                </a:moveTo>
                <a:lnTo>
                  <a:pt x="1519062" y="0"/>
                </a:lnTo>
                <a:lnTo>
                  <a:pt x="1519062" y="251335"/>
                </a:lnTo>
                <a:lnTo>
                  <a:pt x="0" y="2513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" name="TextBox 5"/>
          <p:cNvSpPr txBox="1"/>
          <p:nvPr/>
        </p:nvSpPr>
        <p:spPr>
          <a:xfrm>
            <a:off x="1992479" y="3297099"/>
            <a:ext cx="15266821" cy="98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38"/>
              </a:lnSpc>
              <a:spcBef>
                <a:spcPct val="0"/>
              </a:spcBef>
            </a:pPr>
            <a:r>
              <a:rPr lang="en-US" sz="5741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Schedule-Free Autonomous Boats in Bergen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92479" y="5146675"/>
            <a:ext cx="7544978" cy="1587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38"/>
              </a:lnSpc>
              <a:spcBef>
                <a:spcPct val="0"/>
              </a:spcBef>
            </a:pPr>
            <a:r>
              <a:rPr lang="en-US" sz="452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A reinforcement learning approach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845404"/>
            <a:ext cx="1739535" cy="215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50"/>
              </a:lnSpc>
              <a:spcBef>
                <a:spcPct val="0"/>
              </a:spcBef>
            </a:pPr>
            <a:r>
              <a:rPr lang="en-US" sz="12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NHH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39957" y="0"/>
            <a:ext cx="9348043" cy="10287000"/>
            <a:chOff x="0" y="0"/>
            <a:chExt cx="1093434" cy="12032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3434" cy="1203263"/>
            </a:xfrm>
            <a:custGeom>
              <a:avLst/>
              <a:gdLst/>
              <a:ahLst/>
              <a:cxnLst/>
              <a:rect l="l" t="t" r="r" b="b"/>
              <a:pathLst>
                <a:path w="1093434" h="1203263">
                  <a:moveTo>
                    <a:pt x="0" y="0"/>
                  </a:moveTo>
                  <a:lnTo>
                    <a:pt x="1093434" y="0"/>
                  </a:lnTo>
                  <a:lnTo>
                    <a:pt x="1093434" y="1203263"/>
                  </a:lnTo>
                  <a:lnTo>
                    <a:pt x="0" y="1203263"/>
                  </a:lnTo>
                  <a:close/>
                </a:path>
              </a:pathLst>
            </a:custGeom>
            <a:blipFill>
              <a:blip r:embed="rId2"/>
              <a:stretch>
                <a:fillRect l="-138" r="-138"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4" name="Freeform 4"/>
          <p:cNvSpPr/>
          <p:nvPr/>
        </p:nvSpPr>
        <p:spPr>
          <a:xfrm>
            <a:off x="6289664" y="-1411170"/>
            <a:ext cx="4258525" cy="4114800"/>
          </a:xfrm>
          <a:custGeom>
            <a:avLst/>
            <a:gdLst/>
            <a:ahLst/>
            <a:cxnLst/>
            <a:rect l="l" t="t" r="r" b="b"/>
            <a:pathLst>
              <a:path w="4258525" h="4114800">
                <a:moveTo>
                  <a:pt x="0" y="0"/>
                </a:moveTo>
                <a:lnTo>
                  <a:pt x="4258525" y="0"/>
                </a:lnTo>
                <a:lnTo>
                  <a:pt x="42585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" name="TextBox 5"/>
          <p:cNvSpPr txBox="1"/>
          <p:nvPr/>
        </p:nvSpPr>
        <p:spPr>
          <a:xfrm>
            <a:off x="1325483" y="3662381"/>
            <a:ext cx="5788361" cy="1113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9"/>
              </a:lnSpc>
              <a:spcBef>
                <a:spcPct val="0"/>
              </a:spcBef>
            </a:pPr>
            <a:r>
              <a:rPr lang="en-US" sz="6435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Idea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25483" y="2682087"/>
            <a:ext cx="5788361" cy="1113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009"/>
              </a:lnSpc>
              <a:spcBef>
                <a:spcPct val="0"/>
              </a:spcBef>
            </a:pPr>
            <a:r>
              <a:rPr lang="en-US" sz="6435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The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25483" y="5256623"/>
            <a:ext cx="6949581" cy="3169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76"/>
              </a:lnSpc>
              <a:spcBef>
                <a:spcPct val="0"/>
              </a:spcBef>
            </a:pPr>
            <a:r>
              <a:rPr lang="en-US" sz="1983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• On-demand autonomous boats in Bergen — no fixed schedule</a:t>
            </a:r>
          </a:p>
          <a:p>
            <a:pPr marL="0" lvl="0" indent="0" algn="l">
              <a:lnSpc>
                <a:spcPts val="2776"/>
              </a:lnSpc>
              <a:spcBef>
                <a:spcPct val="0"/>
              </a:spcBef>
            </a:pPr>
            <a:endParaRPr lang="en-US" sz="1983">
              <a:solidFill>
                <a:srgbClr val="4B4B4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>
              <a:lnSpc>
                <a:spcPts val="2776"/>
              </a:lnSpc>
              <a:spcBef>
                <a:spcPct val="0"/>
              </a:spcBef>
            </a:pPr>
            <a:r>
              <a:rPr lang="en-US" sz="1983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• Passengers state: origin, destination, and desired arrival time</a:t>
            </a:r>
          </a:p>
          <a:p>
            <a:pPr marL="0" lvl="0" indent="0" algn="l">
              <a:lnSpc>
                <a:spcPts val="2776"/>
              </a:lnSpc>
              <a:spcBef>
                <a:spcPct val="0"/>
              </a:spcBef>
            </a:pPr>
            <a:endParaRPr lang="en-US" sz="1983">
              <a:solidFill>
                <a:srgbClr val="4B4B4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>
              <a:lnSpc>
                <a:spcPts val="2776"/>
              </a:lnSpc>
              <a:spcBef>
                <a:spcPct val="0"/>
              </a:spcBef>
            </a:pPr>
            <a:r>
              <a:rPr lang="en-US" sz="1983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• The system decides, in real time, how boats move to serve them</a:t>
            </a:r>
          </a:p>
          <a:p>
            <a:pPr marL="0" lvl="0" indent="0" algn="l">
              <a:lnSpc>
                <a:spcPts val="2776"/>
              </a:lnSpc>
              <a:spcBef>
                <a:spcPct val="0"/>
              </a:spcBef>
            </a:pPr>
            <a:endParaRPr lang="en-US" sz="1983">
              <a:solidFill>
                <a:srgbClr val="4B4B4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>
              <a:lnSpc>
                <a:spcPts val="2776"/>
              </a:lnSpc>
              <a:spcBef>
                <a:spcPct val="0"/>
              </a:spcBef>
            </a:pPr>
            <a:r>
              <a:rPr lang="en-US" sz="1983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• Goal: get people close to their desired arrival time, efficiently</a:t>
            </a:r>
          </a:p>
        </p:txBody>
      </p:sp>
      <p:sp>
        <p:nvSpPr>
          <p:cNvPr id="8" name="Freeform 8"/>
          <p:cNvSpPr/>
          <p:nvPr/>
        </p:nvSpPr>
        <p:spPr>
          <a:xfrm>
            <a:off x="15740238" y="9006964"/>
            <a:ext cx="1519062" cy="251336"/>
          </a:xfrm>
          <a:custGeom>
            <a:avLst/>
            <a:gdLst/>
            <a:ahLst/>
            <a:cxnLst/>
            <a:rect l="l" t="t" r="r" b="b"/>
            <a:pathLst>
              <a:path w="1519062" h="251336">
                <a:moveTo>
                  <a:pt x="0" y="0"/>
                </a:moveTo>
                <a:lnTo>
                  <a:pt x="1519062" y="0"/>
                </a:lnTo>
                <a:lnTo>
                  <a:pt x="1519062" y="251336"/>
                </a:lnTo>
                <a:lnTo>
                  <a:pt x="0" y="251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" b="-555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>
            <a:off x="7624938" y="932085"/>
            <a:ext cx="1519062" cy="251336"/>
          </a:xfrm>
          <a:custGeom>
            <a:avLst/>
            <a:gdLst/>
            <a:ahLst/>
            <a:cxnLst/>
            <a:rect l="l" t="t" r="r" b="b"/>
            <a:pathLst>
              <a:path w="1519062" h="251336">
                <a:moveTo>
                  <a:pt x="0" y="0"/>
                </a:moveTo>
                <a:lnTo>
                  <a:pt x="1519062" y="0"/>
                </a:lnTo>
                <a:lnTo>
                  <a:pt x="1519062" y="251336"/>
                </a:lnTo>
                <a:lnTo>
                  <a:pt x="0" y="251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Freeform 4"/>
          <p:cNvSpPr/>
          <p:nvPr/>
        </p:nvSpPr>
        <p:spPr>
          <a:xfrm>
            <a:off x="1418947" y="3923226"/>
            <a:ext cx="6690184" cy="5222525"/>
          </a:xfrm>
          <a:custGeom>
            <a:avLst/>
            <a:gdLst/>
            <a:ahLst/>
            <a:cxnLst/>
            <a:rect l="l" t="t" r="r" b="b"/>
            <a:pathLst>
              <a:path w="6690184" h="5222525">
                <a:moveTo>
                  <a:pt x="0" y="0"/>
                </a:moveTo>
                <a:lnTo>
                  <a:pt x="6690184" y="0"/>
                </a:lnTo>
                <a:lnTo>
                  <a:pt x="6690184" y="5222525"/>
                </a:lnTo>
                <a:lnTo>
                  <a:pt x="0" y="52225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" name="Freeform 5"/>
          <p:cNvSpPr/>
          <p:nvPr/>
        </p:nvSpPr>
        <p:spPr>
          <a:xfrm>
            <a:off x="8677332" y="3923226"/>
            <a:ext cx="8494461" cy="5165694"/>
          </a:xfrm>
          <a:custGeom>
            <a:avLst/>
            <a:gdLst/>
            <a:ahLst/>
            <a:cxnLst/>
            <a:rect l="l" t="t" r="r" b="b"/>
            <a:pathLst>
              <a:path w="8494461" h="5165694">
                <a:moveTo>
                  <a:pt x="0" y="0"/>
                </a:moveTo>
                <a:lnTo>
                  <a:pt x="8494461" y="0"/>
                </a:lnTo>
                <a:lnTo>
                  <a:pt x="8494461" y="5165694"/>
                </a:lnTo>
                <a:lnTo>
                  <a:pt x="0" y="51656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6" name="TextBox 6"/>
          <p:cNvSpPr txBox="1"/>
          <p:nvPr/>
        </p:nvSpPr>
        <p:spPr>
          <a:xfrm>
            <a:off x="14484839" y="845404"/>
            <a:ext cx="2774461" cy="338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892"/>
              </a:lnSpc>
              <a:spcBef>
                <a:spcPct val="0"/>
              </a:spcBef>
            </a:pPr>
            <a:r>
              <a:rPr lang="en-US" sz="206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Bergen Boats · Page 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25483" y="1745324"/>
            <a:ext cx="9622203" cy="760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25"/>
              </a:lnSpc>
              <a:spcBef>
                <a:spcPct val="0"/>
              </a:spcBef>
            </a:pPr>
            <a:r>
              <a:rPr lang="en-US" sz="4446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What's done: navigable routing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18947" y="2754059"/>
            <a:ext cx="6445348" cy="1054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76"/>
              </a:lnSpc>
              <a:spcBef>
                <a:spcPct val="0"/>
              </a:spcBef>
            </a:pPr>
            <a:r>
              <a:rPr lang="en-US" sz="198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Realistic travel times</a:t>
            </a:r>
          </a:p>
          <a:p>
            <a:pPr marL="0" lvl="0" indent="0" algn="l">
              <a:lnSpc>
                <a:spcPts val="2776"/>
              </a:lnSpc>
              <a:spcBef>
                <a:spcPct val="0"/>
              </a:spcBef>
            </a:pPr>
            <a:r>
              <a:rPr lang="en-US" sz="198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Straight lines cross land </a:t>
            </a:r>
          </a:p>
          <a:p>
            <a:pPr marL="0" lvl="0" indent="0" algn="l">
              <a:lnSpc>
                <a:spcPts val="2776"/>
              </a:lnSpc>
              <a:spcBef>
                <a:spcPct val="0"/>
              </a:spcBef>
            </a:pPr>
            <a:endParaRPr lang="en-US" sz="1983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" b="-555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>
            <a:off x="7624938" y="932085"/>
            <a:ext cx="1519062" cy="251336"/>
          </a:xfrm>
          <a:custGeom>
            <a:avLst/>
            <a:gdLst/>
            <a:ahLst/>
            <a:cxnLst/>
            <a:rect l="l" t="t" r="r" b="b"/>
            <a:pathLst>
              <a:path w="1519062" h="251336">
                <a:moveTo>
                  <a:pt x="0" y="0"/>
                </a:moveTo>
                <a:lnTo>
                  <a:pt x="1519062" y="0"/>
                </a:lnTo>
                <a:lnTo>
                  <a:pt x="1519062" y="251336"/>
                </a:lnTo>
                <a:lnTo>
                  <a:pt x="0" y="251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Freeform 4"/>
          <p:cNvSpPr/>
          <p:nvPr/>
        </p:nvSpPr>
        <p:spPr>
          <a:xfrm>
            <a:off x="1325483" y="3854560"/>
            <a:ext cx="8773930" cy="5297260"/>
          </a:xfrm>
          <a:custGeom>
            <a:avLst/>
            <a:gdLst/>
            <a:ahLst/>
            <a:cxnLst/>
            <a:rect l="l" t="t" r="r" b="b"/>
            <a:pathLst>
              <a:path w="8773930" h="5297260">
                <a:moveTo>
                  <a:pt x="0" y="0"/>
                </a:moveTo>
                <a:lnTo>
                  <a:pt x="8773929" y="0"/>
                </a:lnTo>
                <a:lnTo>
                  <a:pt x="8773929" y="5297260"/>
                </a:lnTo>
                <a:lnTo>
                  <a:pt x="0" y="52972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" name="Freeform 5"/>
          <p:cNvSpPr/>
          <p:nvPr/>
        </p:nvSpPr>
        <p:spPr>
          <a:xfrm>
            <a:off x="10703696" y="1791941"/>
            <a:ext cx="7180482" cy="7359879"/>
          </a:xfrm>
          <a:custGeom>
            <a:avLst/>
            <a:gdLst/>
            <a:ahLst/>
            <a:cxnLst/>
            <a:rect l="l" t="t" r="r" b="b"/>
            <a:pathLst>
              <a:path w="7180482" h="7359879">
                <a:moveTo>
                  <a:pt x="0" y="0"/>
                </a:moveTo>
                <a:lnTo>
                  <a:pt x="7180483" y="0"/>
                </a:lnTo>
                <a:lnTo>
                  <a:pt x="7180483" y="7359879"/>
                </a:lnTo>
                <a:lnTo>
                  <a:pt x="0" y="73598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6" name="TextBox 6"/>
          <p:cNvSpPr txBox="1"/>
          <p:nvPr/>
        </p:nvSpPr>
        <p:spPr>
          <a:xfrm>
            <a:off x="1325483" y="1745324"/>
            <a:ext cx="9622203" cy="760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225"/>
              </a:lnSpc>
              <a:spcBef>
                <a:spcPct val="0"/>
              </a:spcBef>
            </a:pPr>
            <a:r>
              <a:rPr lang="en-US" sz="4446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What's done: navigable routing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33390" y="3028722"/>
            <a:ext cx="6445348" cy="349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76"/>
              </a:lnSpc>
              <a:spcBef>
                <a:spcPct val="0"/>
              </a:spcBef>
            </a:pPr>
            <a:r>
              <a:rPr lang="en-US" sz="198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Water mask + Dijkstra = shortest path on water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07328" y="2380933"/>
            <a:ext cx="883251" cy="88325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73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607328" y="4489706"/>
            <a:ext cx="883251" cy="88325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401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523464" y="5372956"/>
            <a:ext cx="5995683" cy="5414502"/>
            <a:chOff x="0" y="0"/>
            <a:chExt cx="1579238" cy="142615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79238" cy="1426157"/>
            </a:xfrm>
            <a:custGeom>
              <a:avLst/>
              <a:gdLst/>
              <a:ahLst/>
              <a:cxnLst/>
              <a:rect l="l" t="t" r="r" b="b"/>
              <a:pathLst>
                <a:path w="1579238" h="1426157">
                  <a:moveTo>
                    <a:pt x="38737" y="0"/>
                  </a:moveTo>
                  <a:lnTo>
                    <a:pt x="1540501" y="0"/>
                  </a:lnTo>
                  <a:cubicBezTo>
                    <a:pt x="1550774" y="0"/>
                    <a:pt x="1560628" y="4081"/>
                    <a:pt x="1567892" y="11346"/>
                  </a:cubicBezTo>
                  <a:cubicBezTo>
                    <a:pt x="1575157" y="18611"/>
                    <a:pt x="1579238" y="28464"/>
                    <a:pt x="1579238" y="38737"/>
                  </a:cubicBezTo>
                  <a:lnTo>
                    <a:pt x="1579238" y="1387420"/>
                  </a:lnTo>
                  <a:cubicBezTo>
                    <a:pt x="1579238" y="1408814"/>
                    <a:pt x="1561895" y="1426157"/>
                    <a:pt x="1540501" y="1426157"/>
                  </a:cubicBezTo>
                  <a:lnTo>
                    <a:pt x="38737" y="1426157"/>
                  </a:lnTo>
                  <a:cubicBezTo>
                    <a:pt x="28464" y="1426157"/>
                    <a:pt x="18611" y="1422076"/>
                    <a:pt x="11346" y="1414811"/>
                  </a:cubicBezTo>
                  <a:cubicBezTo>
                    <a:pt x="4081" y="1407547"/>
                    <a:pt x="0" y="1397694"/>
                    <a:pt x="0" y="1387420"/>
                  </a:cubicBezTo>
                  <a:lnTo>
                    <a:pt x="0" y="38737"/>
                  </a:lnTo>
                  <a:cubicBezTo>
                    <a:pt x="0" y="17343"/>
                    <a:pt x="17343" y="0"/>
                    <a:pt x="38737" y="0"/>
                  </a:cubicBezTo>
                  <a:close/>
                </a:path>
              </a:pathLst>
            </a:custGeom>
            <a:blipFill>
              <a:blip r:embed="rId2"/>
              <a:stretch>
                <a:fillRect l="-380" r="-380"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10" name="Freeform 10"/>
          <p:cNvSpPr/>
          <p:nvPr/>
        </p:nvSpPr>
        <p:spPr>
          <a:xfrm>
            <a:off x="9854929" y="-2703630"/>
            <a:ext cx="4258525" cy="4114800"/>
          </a:xfrm>
          <a:custGeom>
            <a:avLst/>
            <a:gdLst/>
            <a:ahLst/>
            <a:cxnLst/>
            <a:rect l="l" t="t" r="r" b="b"/>
            <a:pathLst>
              <a:path w="4258525" h="4114800">
                <a:moveTo>
                  <a:pt x="0" y="0"/>
                </a:moveTo>
                <a:lnTo>
                  <a:pt x="4258526" y="0"/>
                </a:lnTo>
                <a:lnTo>
                  <a:pt x="42585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1" name="TextBox 11"/>
          <p:cNvSpPr txBox="1"/>
          <p:nvPr/>
        </p:nvSpPr>
        <p:spPr>
          <a:xfrm>
            <a:off x="1325483" y="3439149"/>
            <a:ext cx="4843862" cy="721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47"/>
              </a:lnSpc>
              <a:spcBef>
                <a:spcPct val="0"/>
              </a:spcBef>
            </a:pPr>
            <a:r>
              <a:rPr lang="en-US" sz="4176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the group's models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5483" y="2458855"/>
            <a:ext cx="4843862" cy="721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47"/>
              </a:lnSpc>
              <a:spcBef>
                <a:spcPct val="0"/>
              </a:spcBef>
            </a:pPr>
            <a:r>
              <a:rPr lang="en-US" sz="4176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Building 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13403" y="2337679"/>
            <a:ext cx="2676618" cy="81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74"/>
              </a:lnSpc>
              <a:spcBef>
                <a:spcPct val="0"/>
              </a:spcBef>
            </a:pPr>
            <a:r>
              <a:rPr lang="en-US" sz="233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Gu &amp; Wallace (2021)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84201" y="2561908"/>
            <a:ext cx="729504" cy="407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74"/>
              </a:lnSpc>
              <a:spcBef>
                <a:spcPct val="0"/>
              </a:spcBef>
            </a:pPr>
            <a:r>
              <a:rPr lang="en-US" sz="233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84201" y="4670681"/>
            <a:ext cx="729504" cy="440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54"/>
              </a:lnSpc>
              <a:spcBef>
                <a:spcPct val="0"/>
              </a:spcBef>
            </a:pPr>
            <a:r>
              <a:rPr lang="en-US" sz="253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813403" y="4446452"/>
            <a:ext cx="3553173" cy="888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54"/>
              </a:lnSpc>
              <a:spcBef>
                <a:spcPct val="0"/>
              </a:spcBef>
            </a:pPr>
            <a:r>
              <a:rPr lang="en-US" sz="253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Braathen, Goez &amp; Guajardo (2024)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813403" y="7702784"/>
            <a:ext cx="2858545" cy="81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74"/>
              </a:lnSpc>
              <a:spcBef>
                <a:spcPct val="0"/>
              </a:spcBef>
            </a:pPr>
            <a:r>
              <a:rPr lang="en-US" sz="2339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This thesis: learning-based, dynamic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507776" y="2356729"/>
            <a:ext cx="3751524" cy="771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98"/>
              </a:lnSpc>
              <a:spcBef>
                <a:spcPct val="0"/>
              </a:spcBef>
            </a:pPr>
            <a:r>
              <a:rPr lang="en-US" sz="1498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Static model: optimal location, fleet size, and routing for autonomous boats. Foundation of the Bergen case.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507776" y="4369356"/>
            <a:ext cx="3751524" cy="1406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98"/>
              </a:lnSpc>
              <a:spcBef>
                <a:spcPct val="0"/>
              </a:spcBef>
            </a:pPr>
            <a:r>
              <a:rPr lang="en-US" sz="1998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Static weekly routes pre-computed. Exact model did not scale to larger instances or real-time demand.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507776" y="7803969"/>
            <a:ext cx="3751524" cy="514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98"/>
              </a:lnSpc>
              <a:spcBef>
                <a:spcPct val="0"/>
              </a:spcBef>
            </a:pPr>
            <a:r>
              <a:rPr lang="en-US" sz="1498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Real-time, learning-based operation. An RL agent fills the gap left open by prior models.</a:t>
            </a:r>
          </a:p>
        </p:txBody>
      </p:sp>
      <p:sp>
        <p:nvSpPr>
          <p:cNvPr id="21" name="Freeform 21"/>
          <p:cNvSpPr/>
          <p:nvPr/>
        </p:nvSpPr>
        <p:spPr>
          <a:xfrm>
            <a:off x="3953158" y="932085"/>
            <a:ext cx="1519062" cy="251336"/>
          </a:xfrm>
          <a:custGeom>
            <a:avLst/>
            <a:gdLst/>
            <a:ahLst/>
            <a:cxnLst/>
            <a:rect l="l" t="t" r="r" b="b"/>
            <a:pathLst>
              <a:path w="1519062" h="251336">
                <a:moveTo>
                  <a:pt x="0" y="0"/>
                </a:moveTo>
                <a:lnTo>
                  <a:pt x="1519062" y="0"/>
                </a:lnTo>
                <a:lnTo>
                  <a:pt x="1519062" y="251336"/>
                </a:lnTo>
                <a:lnTo>
                  <a:pt x="0" y="251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5483" y="1885300"/>
            <a:ext cx="7507410" cy="7373000"/>
            <a:chOff x="0" y="0"/>
            <a:chExt cx="1425782" cy="14002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25782" cy="1400255"/>
            </a:xfrm>
            <a:custGeom>
              <a:avLst/>
              <a:gdLst/>
              <a:ahLst/>
              <a:cxnLst/>
              <a:rect l="l" t="t" r="r" b="b"/>
              <a:pathLst>
                <a:path w="1425782" h="1400255">
                  <a:moveTo>
                    <a:pt x="30937" y="0"/>
                  </a:moveTo>
                  <a:lnTo>
                    <a:pt x="1394845" y="0"/>
                  </a:lnTo>
                  <a:cubicBezTo>
                    <a:pt x="1403050" y="0"/>
                    <a:pt x="1410919" y="3259"/>
                    <a:pt x="1416721" y="9061"/>
                  </a:cubicBezTo>
                  <a:cubicBezTo>
                    <a:pt x="1422522" y="14863"/>
                    <a:pt x="1425782" y="22732"/>
                    <a:pt x="1425782" y="30937"/>
                  </a:cubicBezTo>
                  <a:lnTo>
                    <a:pt x="1425782" y="1369318"/>
                  </a:lnTo>
                  <a:cubicBezTo>
                    <a:pt x="1425782" y="1386404"/>
                    <a:pt x="1411931" y="1400255"/>
                    <a:pt x="1394845" y="1400255"/>
                  </a:cubicBezTo>
                  <a:lnTo>
                    <a:pt x="30937" y="1400255"/>
                  </a:lnTo>
                  <a:cubicBezTo>
                    <a:pt x="13851" y="1400255"/>
                    <a:pt x="0" y="1386404"/>
                    <a:pt x="0" y="1369318"/>
                  </a:cubicBezTo>
                  <a:lnTo>
                    <a:pt x="0" y="30937"/>
                  </a:lnTo>
                  <a:cubicBezTo>
                    <a:pt x="0" y="13851"/>
                    <a:pt x="13851" y="0"/>
                    <a:pt x="30937" y="0"/>
                  </a:cubicBezTo>
                  <a:close/>
                </a:path>
              </a:pathLst>
            </a:custGeom>
            <a:blipFill>
              <a:blip r:embed="rId2"/>
              <a:stretch>
                <a:fillRect t="-84" b="-84"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4" name="Freeform 4"/>
          <p:cNvSpPr/>
          <p:nvPr/>
        </p:nvSpPr>
        <p:spPr>
          <a:xfrm>
            <a:off x="-803780" y="7720286"/>
            <a:ext cx="4258525" cy="4114800"/>
          </a:xfrm>
          <a:custGeom>
            <a:avLst/>
            <a:gdLst/>
            <a:ahLst/>
            <a:cxnLst/>
            <a:rect l="l" t="t" r="r" b="b"/>
            <a:pathLst>
              <a:path w="4258525" h="4114800">
                <a:moveTo>
                  <a:pt x="0" y="0"/>
                </a:moveTo>
                <a:lnTo>
                  <a:pt x="4258525" y="0"/>
                </a:lnTo>
                <a:lnTo>
                  <a:pt x="42585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" name="TextBox 5"/>
          <p:cNvSpPr txBox="1"/>
          <p:nvPr/>
        </p:nvSpPr>
        <p:spPr>
          <a:xfrm>
            <a:off x="10411838" y="2330718"/>
            <a:ext cx="6550679" cy="1369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70"/>
              </a:lnSpc>
              <a:spcBef>
                <a:spcPct val="0"/>
              </a:spcBef>
            </a:pPr>
            <a:r>
              <a:rPr lang="en-US" sz="3907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What reinforcement learning 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11838" y="4409016"/>
            <a:ext cx="6550679" cy="38019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69"/>
              </a:lnSpc>
              <a:spcBef>
                <a:spcPct val="0"/>
              </a:spcBef>
            </a:pPr>
            <a:r>
              <a:rPr lang="en-US" sz="2192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Learning by trial and error</a:t>
            </a:r>
          </a:p>
          <a:p>
            <a:pPr marL="0" lvl="0" indent="0" algn="l">
              <a:lnSpc>
                <a:spcPts val="3069"/>
              </a:lnSpc>
              <a:spcBef>
                <a:spcPct val="0"/>
              </a:spcBef>
            </a:pPr>
            <a:endParaRPr lang="en-US" sz="2192">
              <a:solidFill>
                <a:srgbClr val="4B4B4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>
              <a:lnSpc>
                <a:spcPts val="3069"/>
              </a:lnSpc>
              <a:spcBef>
                <a:spcPct val="0"/>
              </a:spcBef>
            </a:pPr>
            <a:r>
              <a:rPr lang="en-US" sz="2192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An agent takes actions in an environment</a:t>
            </a:r>
          </a:p>
          <a:p>
            <a:pPr marL="0" lvl="0" indent="0" algn="l">
              <a:lnSpc>
                <a:spcPts val="3069"/>
              </a:lnSpc>
              <a:spcBef>
                <a:spcPct val="0"/>
              </a:spcBef>
            </a:pPr>
            <a:endParaRPr lang="en-US" sz="2192">
              <a:solidFill>
                <a:srgbClr val="4B4B4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>
              <a:lnSpc>
                <a:spcPts val="3069"/>
              </a:lnSpc>
              <a:spcBef>
                <a:spcPct val="0"/>
              </a:spcBef>
            </a:pPr>
            <a:r>
              <a:rPr lang="en-US" sz="2192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Good outcome : reward - bad outcome : penalty</a:t>
            </a:r>
          </a:p>
          <a:p>
            <a:pPr marL="0" lvl="0" indent="0" algn="l">
              <a:lnSpc>
                <a:spcPts val="3069"/>
              </a:lnSpc>
              <a:spcBef>
                <a:spcPct val="0"/>
              </a:spcBef>
            </a:pPr>
            <a:endParaRPr lang="en-US" sz="2192">
              <a:solidFill>
                <a:srgbClr val="4B4B4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>
              <a:lnSpc>
                <a:spcPts val="3069"/>
              </a:lnSpc>
              <a:spcBef>
                <a:spcPct val="0"/>
              </a:spcBef>
            </a:pPr>
            <a:r>
              <a:rPr lang="en-US" sz="2192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It adjusts, repeats thousands of times : learns a policy</a:t>
            </a:r>
          </a:p>
          <a:p>
            <a:pPr marL="0" lvl="0" indent="0" algn="l">
              <a:lnSpc>
                <a:spcPts val="3069"/>
              </a:lnSpc>
              <a:spcBef>
                <a:spcPct val="0"/>
              </a:spcBef>
            </a:pPr>
            <a:endParaRPr lang="en-US" sz="2192">
              <a:solidFill>
                <a:srgbClr val="4B4B4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>
              <a:lnSpc>
                <a:spcPts val="3069"/>
              </a:lnSpc>
              <a:spcBef>
                <a:spcPct val="0"/>
              </a:spcBef>
            </a:pPr>
            <a:r>
              <a:rPr lang="en-US" sz="2192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Like learning to ride a bike</a:t>
            </a:r>
          </a:p>
        </p:txBody>
      </p:sp>
      <p:sp>
        <p:nvSpPr>
          <p:cNvPr id="7" name="Freeform 7"/>
          <p:cNvSpPr/>
          <p:nvPr/>
        </p:nvSpPr>
        <p:spPr>
          <a:xfrm>
            <a:off x="10411838" y="932085"/>
            <a:ext cx="1519062" cy="251336"/>
          </a:xfrm>
          <a:custGeom>
            <a:avLst/>
            <a:gdLst/>
            <a:ahLst/>
            <a:cxnLst/>
            <a:rect l="l" t="t" r="r" b="b"/>
            <a:pathLst>
              <a:path w="1519062" h="251336">
                <a:moveTo>
                  <a:pt x="0" y="0"/>
                </a:moveTo>
                <a:lnTo>
                  <a:pt x="1519063" y="0"/>
                </a:lnTo>
                <a:lnTo>
                  <a:pt x="1519063" y="251336"/>
                </a:lnTo>
                <a:lnTo>
                  <a:pt x="0" y="251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5483" y="1885300"/>
            <a:ext cx="7507410" cy="7373000"/>
            <a:chOff x="0" y="0"/>
            <a:chExt cx="1425782" cy="14002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25782" cy="1400255"/>
            </a:xfrm>
            <a:custGeom>
              <a:avLst/>
              <a:gdLst/>
              <a:ahLst/>
              <a:cxnLst/>
              <a:rect l="l" t="t" r="r" b="b"/>
              <a:pathLst>
                <a:path w="1425782" h="1400255">
                  <a:moveTo>
                    <a:pt x="30937" y="0"/>
                  </a:moveTo>
                  <a:lnTo>
                    <a:pt x="1394845" y="0"/>
                  </a:lnTo>
                  <a:cubicBezTo>
                    <a:pt x="1403050" y="0"/>
                    <a:pt x="1410919" y="3259"/>
                    <a:pt x="1416721" y="9061"/>
                  </a:cubicBezTo>
                  <a:cubicBezTo>
                    <a:pt x="1422522" y="14863"/>
                    <a:pt x="1425782" y="22732"/>
                    <a:pt x="1425782" y="30937"/>
                  </a:cubicBezTo>
                  <a:lnTo>
                    <a:pt x="1425782" y="1369318"/>
                  </a:lnTo>
                  <a:cubicBezTo>
                    <a:pt x="1425782" y="1386404"/>
                    <a:pt x="1411931" y="1400255"/>
                    <a:pt x="1394845" y="1400255"/>
                  </a:cubicBezTo>
                  <a:lnTo>
                    <a:pt x="30937" y="1400255"/>
                  </a:lnTo>
                  <a:cubicBezTo>
                    <a:pt x="13851" y="1400255"/>
                    <a:pt x="0" y="1386404"/>
                    <a:pt x="0" y="1369318"/>
                  </a:cubicBezTo>
                  <a:lnTo>
                    <a:pt x="0" y="30937"/>
                  </a:lnTo>
                  <a:cubicBezTo>
                    <a:pt x="0" y="13851"/>
                    <a:pt x="13851" y="0"/>
                    <a:pt x="30937" y="0"/>
                  </a:cubicBezTo>
                  <a:close/>
                </a:path>
              </a:pathLst>
            </a:custGeom>
            <a:blipFill>
              <a:blip r:embed="rId2"/>
              <a:stretch>
                <a:fillRect t="-84" b="-84"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4" name="Freeform 4"/>
          <p:cNvSpPr/>
          <p:nvPr/>
        </p:nvSpPr>
        <p:spPr>
          <a:xfrm>
            <a:off x="-803780" y="7720286"/>
            <a:ext cx="4258525" cy="4114800"/>
          </a:xfrm>
          <a:custGeom>
            <a:avLst/>
            <a:gdLst/>
            <a:ahLst/>
            <a:cxnLst/>
            <a:rect l="l" t="t" r="r" b="b"/>
            <a:pathLst>
              <a:path w="4258525" h="4114800">
                <a:moveTo>
                  <a:pt x="0" y="0"/>
                </a:moveTo>
                <a:lnTo>
                  <a:pt x="4258525" y="0"/>
                </a:lnTo>
                <a:lnTo>
                  <a:pt x="42585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" name="TextBox 5"/>
          <p:cNvSpPr txBox="1"/>
          <p:nvPr/>
        </p:nvSpPr>
        <p:spPr>
          <a:xfrm>
            <a:off x="10411838" y="3311011"/>
            <a:ext cx="6550679" cy="1369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70"/>
              </a:lnSpc>
              <a:spcBef>
                <a:spcPct val="0"/>
              </a:spcBef>
            </a:pPr>
            <a:r>
              <a:rPr lang="en-US" sz="3907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assumption to a learning agent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411838" y="2330718"/>
            <a:ext cx="6550679" cy="677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70"/>
              </a:lnSpc>
              <a:spcBef>
                <a:spcPct val="0"/>
              </a:spcBef>
            </a:pPr>
            <a:r>
              <a:rPr lang="en-US" sz="3907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From an ideal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11838" y="5164705"/>
            <a:ext cx="6550679" cy="2062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69"/>
              </a:lnSpc>
              <a:spcBef>
                <a:spcPct val="0"/>
              </a:spcBef>
            </a:pPr>
            <a:r>
              <a:rPr lang="en-US" sz="1692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• Ideal assumption: perfect demand info the moment a trip is requested</a:t>
            </a:r>
          </a:p>
          <a:p>
            <a:pPr marL="0" lvl="0" indent="0" algn="l">
              <a:lnSpc>
                <a:spcPts val="2369"/>
              </a:lnSpc>
              <a:spcBef>
                <a:spcPct val="0"/>
              </a:spcBef>
            </a:pPr>
            <a:endParaRPr lang="en-US" sz="1692">
              <a:solidFill>
                <a:srgbClr val="4B4B4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>
              <a:lnSpc>
                <a:spcPts val="2369"/>
              </a:lnSpc>
              <a:spcBef>
                <a:spcPct val="0"/>
              </a:spcBef>
            </a:pPr>
            <a:r>
              <a:rPr lang="en-US" sz="1692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– State: boat positions + waiting demand + expected pattern</a:t>
            </a:r>
          </a:p>
          <a:p>
            <a:pPr marL="0" lvl="0" indent="0" algn="l">
              <a:lnSpc>
                <a:spcPts val="2369"/>
              </a:lnSpc>
              <a:spcBef>
                <a:spcPct val="0"/>
              </a:spcBef>
            </a:pPr>
            <a:r>
              <a:rPr lang="en-US" sz="1692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– Action: where each boat goes next (or wait)</a:t>
            </a:r>
          </a:p>
          <a:p>
            <a:pPr marL="0" lvl="0" indent="0" algn="l">
              <a:lnSpc>
                <a:spcPts val="2369"/>
              </a:lnSpc>
              <a:spcBef>
                <a:spcPct val="0"/>
              </a:spcBef>
            </a:pPr>
            <a:r>
              <a:rPr lang="en-US" sz="1692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– Reward: penalize arrival-time deviation &amp; lost demand</a:t>
            </a:r>
          </a:p>
          <a:p>
            <a:pPr marL="0" lvl="0" indent="0" algn="l">
              <a:lnSpc>
                <a:spcPts val="2369"/>
              </a:lnSpc>
              <a:spcBef>
                <a:spcPct val="0"/>
              </a:spcBef>
            </a:pPr>
            <a:r>
              <a:rPr lang="en-US" sz="1692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• An agent learns a policy by trial and error in a simulator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11838" y="7682186"/>
            <a:ext cx="6550679" cy="585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69"/>
              </a:lnSpc>
              <a:spcBef>
                <a:spcPct val="0"/>
              </a:spcBef>
            </a:pPr>
            <a:r>
              <a:rPr lang="en-US" sz="1692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The agent iterates over thousands of simulated weeks - improving its policy each time until it learns to serve demand efficiently.</a:t>
            </a:r>
          </a:p>
        </p:txBody>
      </p:sp>
      <p:sp>
        <p:nvSpPr>
          <p:cNvPr id="9" name="Freeform 9"/>
          <p:cNvSpPr/>
          <p:nvPr/>
        </p:nvSpPr>
        <p:spPr>
          <a:xfrm>
            <a:off x="10411838" y="932085"/>
            <a:ext cx="1519062" cy="251336"/>
          </a:xfrm>
          <a:custGeom>
            <a:avLst/>
            <a:gdLst/>
            <a:ahLst/>
            <a:cxnLst/>
            <a:rect l="l" t="t" r="r" b="b"/>
            <a:pathLst>
              <a:path w="1519062" h="251336">
                <a:moveTo>
                  <a:pt x="0" y="0"/>
                </a:moveTo>
                <a:lnTo>
                  <a:pt x="1519063" y="0"/>
                </a:lnTo>
                <a:lnTo>
                  <a:pt x="1519063" y="251336"/>
                </a:lnTo>
                <a:lnTo>
                  <a:pt x="0" y="251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" b="-555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TextBox 3"/>
          <p:cNvSpPr txBox="1"/>
          <p:nvPr/>
        </p:nvSpPr>
        <p:spPr>
          <a:xfrm>
            <a:off x="4818386" y="2799586"/>
            <a:ext cx="8651229" cy="2074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880"/>
              </a:lnSpc>
              <a:spcBef>
                <a:spcPct val="0"/>
              </a:spcBef>
            </a:pPr>
            <a:r>
              <a:rPr lang="en-US" sz="12057" b="1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>
            <a:off x="11423478" y="2429011"/>
            <a:ext cx="1519062" cy="251336"/>
          </a:xfrm>
          <a:custGeom>
            <a:avLst/>
            <a:gdLst/>
            <a:ahLst/>
            <a:cxnLst/>
            <a:rect l="l" t="t" r="r" b="b"/>
            <a:pathLst>
              <a:path w="1519062" h="251336">
                <a:moveTo>
                  <a:pt x="0" y="0"/>
                </a:moveTo>
                <a:lnTo>
                  <a:pt x="1519062" y="0"/>
                </a:lnTo>
                <a:lnTo>
                  <a:pt x="1519062" y="251336"/>
                </a:lnTo>
                <a:lnTo>
                  <a:pt x="0" y="251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6870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400" b="1" dirty="0">
                <a:solidFill>
                  <a:srgbClr val="2C2C2A"/>
                </a:solidFill>
                <a:latin typeface="Aileron Bold" panose="020B060402020202020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4400" dirty="0">
              <a:latin typeface="Aileron Bold" panose="020B060402020202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85865" y="2385060"/>
            <a:ext cx="4663440" cy="2194560"/>
          </a:xfrm>
          <a:prstGeom prst="roundRect">
            <a:avLst>
              <a:gd name="adj" fmla="val 5625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14300" tIns="114300" rIns="114300" bIns="114300" rtlCol="0" anchor="ctr"/>
          <a:lstStyle/>
          <a:p>
            <a:r>
              <a:rPr lang="en-US" sz="225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Passengers appear</a:t>
            </a:r>
            <a:endParaRPr lang="en-US" sz="2250" dirty="0"/>
          </a:p>
          <a:p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origin, destination,</a:t>
            </a:r>
            <a:endParaRPr lang="en-US" sz="2250" dirty="0"/>
          </a:p>
          <a:p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time (Poisson)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6815165" y="2385060"/>
            <a:ext cx="4663440" cy="2194560"/>
          </a:xfrm>
          <a:prstGeom prst="roundRect">
            <a:avLst>
              <a:gd name="adj" fmla="val 5625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14300" tIns="114300" rIns="114300" bIns="114300" rtlCol="0" anchor="ctr"/>
          <a:lstStyle/>
          <a:p>
            <a:r>
              <a:rPr lang="en-US" sz="22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decides</a:t>
            </a:r>
            <a:endParaRPr lang="en-US" sz="2250" dirty="0"/>
          </a:p>
          <a:p>
            <a:r>
              <a:rPr lang="en-US" sz="165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boat goes where,</a:t>
            </a:r>
            <a:endParaRPr lang="en-US" sz="2250" dirty="0"/>
          </a:p>
          <a:p>
            <a:r>
              <a:rPr lang="en-US" sz="165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time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2644465" y="2385060"/>
            <a:ext cx="4663440" cy="2194560"/>
          </a:xfrm>
          <a:prstGeom prst="roundRect">
            <a:avLst>
              <a:gd name="adj" fmla="val 5625"/>
            </a:avLst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114300" tIns="114300" rIns="114300" bIns="114300" rtlCol="0" anchor="ctr"/>
          <a:lstStyle/>
          <a:p>
            <a:r>
              <a:rPr lang="en-US" sz="225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are served</a:t>
            </a:r>
            <a:endParaRPr lang="en-US" sz="2250" dirty="0"/>
          </a:p>
          <a:p>
            <a:r>
              <a:rPr lang="en-US" sz="165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leave if they</a:t>
            </a:r>
            <a:endParaRPr lang="en-US" sz="2250" dirty="0"/>
          </a:p>
          <a:p>
            <a:r>
              <a:rPr lang="en-US" sz="165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too long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5717885" y="3482340"/>
            <a:ext cx="1028700" cy="0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  <a:tailEnd type="triangle"/>
          </a:ln>
        </p:spPr>
        <p:txBody>
          <a:bodyPr/>
          <a:lstStyle/>
          <a:p>
            <a:endParaRPr lang="es-CO" sz="2700"/>
          </a:p>
        </p:txBody>
      </p:sp>
      <p:sp>
        <p:nvSpPr>
          <p:cNvPr id="7" name="Shape 5"/>
          <p:cNvSpPr/>
          <p:nvPr/>
        </p:nvSpPr>
        <p:spPr>
          <a:xfrm>
            <a:off x="11547185" y="3482340"/>
            <a:ext cx="1028700" cy="0"/>
          </a:xfrm>
          <a:prstGeom prst="line">
            <a:avLst/>
          </a:prstGeom>
          <a:noFill/>
          <a:ln w="25400">
            <a:solidFill>
              <a:srgbClr val="0F6E56"/>
            </a:solidFill>
            <a:prstDash val="solid"/>
            <a:tailEnd type="triangle"/>
          </a:ln>
        </p:spPr>
        <p:txBody>
          <a:bodyPr/>
          <a:lstStyle/>
          <a:p>
            <a:endParaRPr lang="es-CO" sz="2700"/>
          </a:p>
        </p:txBody>
      </p:sp>
      <p:sp>
        <p:nvSpPr>
          <p:cNvPr id="8" name="Text 6"/>
          <p:cNvSpPr/>
          <p:nvPr/>
        </p:nvSpPr>
        <p:spPr>
          <a:xfrm>
            <a:off x="3454745" y="5676900"/>
            <a:ext cx="11384280" cy="1577340"/>
          </a:xfrm>
          <a:prstGeom prst="roundRect">
            <a:avLst>
              <a:gd name="adj" fmla="val 782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14300" tIns="114300" rIns="114300" bIns="114300" rtlCol="0" anchor="ctr"/>
          <a:lstStyle/>
          <a:p>
            <a:r>
              <a:rPr lang="en-US" sz="240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decisions, under uncertainty</a:t>
            </a:r>
            <a:endParaRPr lang="en-US" sz="2400" dirty="0"/>
          </a:p>
          <a:p>
            <a:r>
              <a:rPr lang="en-US" sz="165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choice affects the next  -  we don't know who requests a trip next</a:t>
            </a:r>
            <a:endParaRPr lang="en-US" sz="2400" dirty="0"/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17F3E784-8B4F-94DF-AE7C-9F214C887C6A}"/>
              </a:ext>
            </a:extLst>
          </p:cNvPr>
          <p:cNvSpPr/>
          <p:nvPr/>
        </p:nvSpPr>
        <p:spPr>
          <a:xfrm>
            <a:off x="-803780" y="7720286"/>
            <a:ext cx="4258525" cy="4114800"/>
          </a:xfrm>
          <a:custGeom>
            <a:avLst/>
            <a:gdLst/>
            <a:ahLst/>
            <a:cxnLst/>
            <a:rect l="l" t="t" r="r" b="b"/>
            <a:pathLst>
              <a:path w="4258525" h="4114800">
                <a:moveTo>
                  <a:pt x="0" y="0"/>
                </a:moveTo>
                <a:lnTo>
                  <a:pt x="4258525" y="0"/>
                </a:lnTo>
                <a:lnTo>
                  <a:pt x="42585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F1289F5E-5204-D6C1-D634-9A06DE35F6CD}"/>
              </a:ext>
            </a:extLst>
          </p:cNvPr>
          <p:cNvSpPr/>
          <p:nvPr/>
        </p:nvSpPr>
        <p:spPr>
          <a:xfrm>
            <a:off x="15621000" y="669860"/>
            <a:ext cx="1519062" cy="251336"/>
          </a:xfrm>
          <a:custGeom>
            <a:avLst/>
            <a:gdLst/>
            <a:ahLst/>
            <a:cxnLst/>
            <a:rect l="l" t="t" r="r" b="b"/>
            <a:pathLst>
              <a:path w="1519062" h="251336">
                <a:moveTo>
                  <a:pt x="0" y="0"/>
                </a:moveTo>
                <a:lnTo>
                  <a:pt x="1519063" y="0"/>
                </a:lnTo>
                <a:lnTo>
                  <a:pt x="1519063" y="251336"/>
                </a:lnTo>
                <a:lnTo>
                  <a:pt x="0" y="251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98E6CFF4-51D0-61F9-C5B9-EF228F9B1EAC}"/>
              </a:ext>
            </a:extLst>
          </p:cNvPr>
          <p:cNvSpPr txBox="1"/>
          <p:nvPr/>
        </p:nvSpPr>
        <p:spPr>
          <a:xfrm>
            <a:off x="4645526" y="8995945"/>
            <a:ext cx="12878297" cy="799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09"/>
              </a:lnSpc>
              <a:spcBef>
                <a:spcPct val="0"/>
              </a:spcBef>
            </a:pPr>
            <a:r>
              <a:rPr lang="en-US" sz="2292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The problem has a formal structure: a Markov Decision Process (MDP). And the method to solve an MDP is reinforcement learning.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6870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4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problem to method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60120" y="3703320"/>
            <a:ext cx="4663440" cy="2331720"/>
          </a:xfrm>
          <a:prstGeom prst="roundRect">
            <a:avLst>
              <a:gd name="adj" fmla="val 5294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14300" tIns="114300" rIns="114300" bIns="114300" rtlCol="0" anchor="ctr"/>
          <a:lstStyle/>
          <a:p>
            <a:r>
              <a:rPr lang="en-US" sz="225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problem</a:t>
            </a:r>
            <a:endParaRPr lang="en-US" sz="2250" dirty="0"/>
          </a:p>
          <a:p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boat dispatch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6789420" y="3703320"/>
            <a:ext cx="4663440" cy="2331720"/>
          </a:xfrm>
          <a:prstGeom prst="roundRect">
            <a:avLst>
              <a:gd name="adj" fmla="val 5294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114300" tIns="114300" rIns="114300" bIns="114300" rtlCol="0" anchor="ctr"/>
          <a:lstStyle/>
          <a:p>
            <a:r>
              <a:rPr lang="en-US" sz="22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</a:t>
            </a:r>
            <a:endParaRPr lang="en-US" sz="2250" dirty="0"/>
          </a:p>
          <a:p>
            <a:r>
              <a:rPr lang="en-US" sz="165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formal description</a:t>
            </a:r>
            <a:endParaRPr lang="en-US" sz="2250" dirty="0"/>
          </a:p>
          <a:p>
            <a:r>
              <a:rPr lang="en-US" sz="165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"what")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2618720" y="3703320"/>
            <a:ext cx="4663440" cy="2331720"/>
          </a:xfrm>
          <a:prstGeom prst="roundRect">
            <a:avLst>
              <a:gd name="adj" fmla="val 5294"/>
            </a:avLst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114300" tIns="114300" rIns="114300" bIns="114300" rtlCol="0" anchor="ctr"/>
          <a:lstStyle/>
          <a:p>
            <a:r>
              <a:rPr lang="en-US" sz="21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2100" dirty="0"/>
          </a:p>
          <a:p>
            <a:r>
              <a:rPr lang="en-US" sz="165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to solve it</a:t>
            </a:r>
            <a:endParaRPr lang="en-US" sz="2100" dirty="0"/>
          </a:p>
          <a:p>
            <a:r>
              <a:rPr lang="en-US" sz="165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"how")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5692140" y="4869180"/>
            <a:ext cx="1028700" cy="0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  <a:tailEnd type="triangle"/>
          </a:ln>
        </p:spPr>
        <p:txBody>
          <a:bodyPr/>
          <a:lstStyle/>
          <a:p>
            <a:endParaRPr lang="es-CO" sz="2700"/>
          </a:p>
        </p:txBody>
      </p:sp>
      <p:sp>
        <p:nvSpPr>
          <p:cNvPr id="7" name="Text 5"/>
          <p:cNvSpPr/>
          <p:nvPr/>
        </p:nvSpPr>
        <p:spPr>
          <a:xfrm>
            <a:off x="5417820" y="4183380"/>
            <a:ext cx="15773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5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521440" y="4869180"/>
            <a:ext cx="1028700" cy="0"/>
          </a:xfrm>
          <a:prstGeom prst="line">
            <a:avLst/>
          </a:prstGeom>
          <a:noFill/>
          <a:ln w="25400">
            <a:solidFill>
              <a:srgbClr val="0F6E56"/>
            </a:solidFill>
            <a:prstDash val="solid"/>
            <a:tailEnd type="triangle"/>
          </a:ln>
        </p:spPr>
        <p:txBody>
          <a:bodyPr/>
          <a:lstStyle/>
          <a:p>
            <a:endParaRPr lang="es-CO" sz="2700"/>
          </a:p>
        </p:txBody>
      </p:sp>
      <p:sp>
        <p:nvSpPr>
          <p:cNvPr id="9" name="Text 7"/>
          <p:cNvSpPr/>
          <p:nvPr/>
        </p:nvSpPr>
        <p:spPr>
          <a:xfrm>
            <a:off x="11247120" y="4183380"/>
            <a:ext cx="15773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5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</a:t>
            </a:r>
            <a:endParaRPr lang="en-US" sz="1650" dirty="0"/>
          </a:p>
        </p:txBody>
      </p:sp>
      <p:sp>
        <p:nvSpPr>
          <p:cNvPr id="11" name="Freeform 2">
            <a:extLst>
              <a:ext uri="{FF2B5EF4-FFF2-40B4-BE49-F238E27FC236}">
                <a16:creationId xmlns:a16="http://schemas.microsoft.com/office/drawing/2014/main" id="{00A635DE-5771-8CAC-31E2-69C3C1747DB5}"/>
              </a:ext>
            </a:extLst>
          </p:cNvPr>
          <p:cNvSpPr/>
          <p:nvPr/>
        </p:nvSpPr>
        <p:spPr>
          <a:xfrm>
            <a:off x="-803780" y="7720286"/>
            <a:ext cx="4258525" cy="4114800"/>
          </a:xfrm>
          <a:custGeom>
            <a:avLst/>
            <a:gdLst/>
            <a:ahLst/>
            <a:cxnLst/>
            <a:rect l="l" t="t" r="r" b="b"/>
            <a:pathLst>
              <a:path w="4258525" h="4114800">
                <a:moveTo>
                  <a:pt x="0" y="0"/>
                </a:moveTo>
                <a:lnTo>
                  <a:pt x="4258525" y="0"/>
                </a:lnTo>
                <a:lnTo>
                  <a:pt x="42585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D0F8CF4C-F895-5685-B69D-052031DE0DF3}"/>
              </a:ext>
            </a:extLst>
          </p:cNvPr>
          <p:cNvSpPr/>
          <p:nvPr/>
        </p:nvSpPr>
        <p:spPr>
          <a:xfrm>
            <a:off x="15720644" y="661569"/>
            <a:ext cx="1519062" cy="251336"/>
          </a:xfrm>
          <a:custGeom>
            <a:avLst/>
            <a:gdLst/>
            <a:ahLst/>
            <a:cxnLst/>
            <a:rect l="l" t="t" r="r" b="b"/>
            <a:pathLst>
              <a:path w="1519062" h="251336">
                <a:moveTo>
                  <a:pt x="0" y="0"/>
                </a:moveTo>
                <a:lnTo>
                  <a:pt x="1519063" y="0"/>
                </a:lnTo>
                <a:lnTo>
                  <a:pt x="1519063" y="251336"/>
                </a:lnTo>
                <a:lnTo>
                  <a:pt x="0" y="251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ECE62404-AB13-4D84-99E0-EB25D4ED58A0}"/>
              </a:ext>
            </a:extLst>
          </p:cNvPr>
          <p:cNvSpPr txBox="1"/>
          <p:nvPr/>
        </p:nvSpPr>
        <p:spPr>
          <a:xfrm>
            <a:off x="4381003" y="8700734"/>
            <a:ext cx="12878297" cy="799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09"/>
              </a:lnSpc>
              <a:spcBef>
                <a:spcPct val="0"/>
              </a:spcBef>
            </a:pPr>
            <a:r>
              <a:rPr lang="en-US" sz="2292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The problem has a formal structure: a Markov Decision Process (MDP). And the method to solve an MDP is reinforcement learning.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61250-A411-B60B-92AD-A5186D10C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CB215C5-B462-D316-9EE8-783B1B4AAEB3}"/>
              </a:ext>
            </a:extLst>
          </p:cNvPr>
          <p:cNvGrpSpPr/>
          <p:nvPr/>
        </p:nvGrpSpPr>
        <p:grpSpPr>
          <a:xfrm>
            <a:off x="10548189" y="0"/>
            <a:ext cx="7739811" cy="10287000"/>
            <a:chOff x="0" y="0"/>
            <a:chExt cx="1093434" cy="120326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847FC9F-2828-7116-9195-97B0388BF612}"/>
                </a:ext>
              </a:extLst>
            </p:cNvPr>
            <p:cNvSpPr/>
            <p:nvPr/>
          </p:nvSpPr>
          <p:spPr>
            <a:xfrm>
              <a:off x="0" y="0"/>
              <a:ext cx="1093434" cy="1203263"/>
            </a:xfrm>
            <a:custGeom>
              <a:avLst/>
              <a:gdLst/>
              <a:ahLst/>
              <a:cxnLst/>
              <a:rect l="l" t="t" r="r" b="b"/>
              <a:pathLst>
                <a:path w="1093434" h="1203263">
                  <a:moveTo>
                    <a:pt x="0" y="0"/>
                  </a:moveTo>
                  <a:lnTo>
                    <a:pt x="1093434" y="0"/>
                  </a:lnTo>
                  <a:lnTo>
                    <a:pt x="1093434" y="1203263"/>
                  </a:lnTo>
                  <a:lnTo>
                    <a:pt x="0" y="1203263"/>
                  </a:lnTo>
                  <a:close/>
                </a:path>
              </a:pathLst>
            </a:custGeom>
            <a:blipFill>
              <a:blip r:embed="rId2"/>
              <a:stretch>
                <a:fillRect l="-138" r="-138"/>
              </a:stretch>
            </a:blipFill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4" name="Freeform 4">
            <a:extLst>
              <a:ext uri="{FF2B5EF4-FFF2-40B4-BE49-F238E27FC236}">
                <a16:creationId xmlns:a16="http://schemas.microsoft.com/office/drawing/2014/main" id="{1DC5891E-751D-E624-D5CB-B8B06D74B1D1}"/>
              </a:ext>
            </a:extLst>
          </p:cNvPr>
          <p:cNvSpPr/>
          <p:nvPr/>
        </p:nvSpPr>
        <p:spPr>
          <a:xfrm>
            <a:off x="8534400" y="-1485900"/>
            <a:ext cx="4258525" cy="4114800"/>
          </a:xfrm>
          <a:custGeom>
            <a:avLst/>
            <a:gdLst/>
            <a:ahLst/>
            <a:cxnLst/>
            <a:rect l="l" t="t" r="r" b="b"/>
            <a:pathLst>
              <a:path w="4258525" h="4114800">
                <a:moveTo>
                  <a:pt x="0" y="0"/>
                </a:moveTo>
                <a:lnTo>
                  <a:pt x="4258525" y="0"/>
                </a:lnTo>
                <a:lnTo>
                  <a:pt x="42585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38F96BB-5AA4-18A3-E049-9F0C4FBD3190}"/>
              </a:ext>
            </a:extLst>
          </p:cNvPr>
          <p:cNvSpPr/>
          <p:nvPr/>
        </p:nvSpPr>
        <p:spPr>
          <a:xfrm>
            <a:off x="15740238" y="9006964"/>
            <a:ext cx="1519062" cy="251336"/>
          </a:xfrm>
          <a:custGeom>
            <a:avLst/>
            <a:gdLst/>
            <a:ahLst/>
            <a:cxnLst/>
            <a:rect l="l" t="t" r="r" b="b"/>
            <a:pathLst>
              <a:path w="1519062" h="251336">
                <a:moveTo>
                  <a:pt x="0" y="0"/>
                </a:moveTo>
                <a:lnTo>
                  <a:pt x="1519062" y="0"/>
                </a:lnTo>
                <a:lnTo>
                  <a:pt x="1519062" y="251336"/>
                </a:lnTo>
                <a:lnTo>
                  <a:pt x="0" y="251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2422D48B-CB44-1520-EA3C-1D60670D5164}"/>
              </a:ext>
            </a:extLst>
          </p:cNvPr>
          <p:cNvSpPr txBox="1"/>
          <p:nvPr/>
        </p:nvSpPr>
        <p:spPr>
          <a:xfrm>
            <a:off x="2133600" y="2276239"/>
            <a:ext cx="6550679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70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Markov property.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7293A9E3-F1E7-FA14-F7E3-3F1CF2A68939}"/>
              </a:ext>
            </a:extLst>
          </p:cNvPr>
          <p:cNvSpPr txBox="1"/>
          <p:nvPr/>
        </p:nvSpPr>
        <p:spPr>
          <a:xfrm>
            <a:off x="1555755" y="4610100"/>
            <a:ext cx="7128524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209"/>
              </a:lnSpc>
              <a:spcBef>
                <a:spcPct val="0"/>
              </a:spcBef>
            </a:pP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Markov property: the future depends only on the current state, not on the path taken. Markovian by design: the state holds everything needed to decide, including time of day.</a:t>
            </a:r>
          </a:p>
        </p:txBody>
      </p:sp>
    </p:spTree>
    <p:extLst>
      <p:ext uri="{BB962C8B-B14F-4D97-AF65-F5344CB8AC3E}">
        <p14:creationId xmlns:p14="http://schemas.microsoft.com/office/powerpoint/2010/main" val="645272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6870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RL solves it: the Bellman equation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1577340"/>
            <a:ext cx="16870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Q(s,a)  ←  Q(s,a)  +  α · [ r + γ · maxQ(s',a') − Q(s,a) ]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60120" y="2880360"/>
            <a:ext cx="7955280" cy="1371600"/>
          </a:xfrm>
          <a:prstGeom prst="roundRect">
            <a:avLst>
              <a:gd name="adj" fmla="val 9000"/>
            </a:avLst>
          </a:prstGeom>
          <a:solidFill>
            <a:srgbClr val="E6F1FB"/>
          </a:solidFill>
          <a:ln w="12700">
            <a:solidFill>
              <a:srgbClr val="185FA5"/>
            </a:solidFill>
          </a:ln>
        </p:spPr>
        <p:txBody>
          <a:bodyPr wrap="square" lIns="114300" tIns="114300" rIns="114300" bIns="114300" rtlCol="0" anchor="ctr"/>
          <a:lstStyle/>
          <a:p>
            <a:r>
              <a:rPr lang="en-US" sz="225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Q(s, a)</a:t>
            </a:r>
            <a:endParaRPr lang="en-US" sz="2250" dirty="0"/>
          </a:p>
          <a:p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good I think this action is in this state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368028" y="2880360"/>
            <a:ext cx="7955280" cy="1371600"/>
          </a:xfrm>
          <a:prstGeom prst="roundRect">
            <a:avLst>
              <a:gd name="adj" fmla="val 900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114300" tIns="114300" rIns="114300" bIns="114300" rtlCol="0" anchor="ctr"/>
          <a:lstStyle/>
          <a:p>
            <a:r>
              <a:rPr lang="en-US" sz="225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(learning rate)</a:t>
            </a:r>
            <a:endParaRPr lang="en-US" sz="2250" dirty="0"/>
          </a:p>
          <a:p>
            <a:r>
              <a:rPr lang="en-US" sz="165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of each adjustment (≈ 0.0001–0.001)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60120" y="4389120"/>
            <a:ext cx="7955280" cy="1371600"/>
          </a:xfrm>
          <a:prstGeom prst="roundRect">
            <a:avLst>
              <a:gd name="adj" fmla="val 9000"/>
            </a:avLst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114300" tIns="114300" rIns="114300" bIns="114300" rtlCol="0" anchor="ctr"/>
          <a:lstStyle/>
          <a:p>
            <a:r>
              <a:rPr lang="en-US" sz="2250" b="1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250" dirty="0"/>
          </a:p>
          <a:p>
            <a:r>
              <a:rPr lang="en-US" sz="1650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reward I got (what actually happened)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368028" y="4389120"/>
            <a:ext cx="7955280" cy="1371600"/>
          </a:xfrm>
          <a:prstGeom prst="roundRect">
            <a:avLst>
              <a:gd name="adj" fmla="val 9000"/>
            </a:avLst>
          </a:prstGeom>
          <a:solidFill>
            <a:srgbClr val="E1F5EE"/>
          </a:solidFill>
          <a:ln w="12700">
            <a:solidFill>
              <a:srgbClr val="0F6E56"/>
            </a:solidFill>
          </a:ln>
        </p:spPr>
        <p:txBody>
          <a:bodyPr wrap="square" lIns="114300" tIns="114300" rIns="114300" bIns="114300" rtlCol="0" anchor="ctr"/>
          <a:lstStyle/>
          <a:p>
            <a:r>
              <a:rPr lang="en-US" sz="225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· maxQ(s', a')</a:t>
            </a:r>
            <a:endParaRPr lang="en-US" sz="2250" dirty="0"/>
          </a:p>
          <a:p>
            <a:r>
              <a:rPr lang="en-US" sz="165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possible future from the new state, discounted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60120" y="5966460"/>
            <a:ext cx="16322040" cy="1440180"/>
          </a:xfrm>
          <a:prstGeom prst="roundRect">
            <a:avLst>
              <a:gd name="adj" fmla="val 8571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114300" tIns="114300" rIns="114300" bIns="114300" rtlCol="0" anchor="ctr"/>
          <a:lstStyle/>
          <a:p>
            <a:r>
              <a:rPr lang="en-US" sz="22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bracket [ … ] is the ERROR</a:t>
            </a:r>
            <a:endParaRPr lang="en-US" sz="2250" dirty="0"/>
          </a:p>
          <a:p>
            <a:r>
              <a:rPr lang="en-US" sz="165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what I expected and what really happened → I nudge my estimate that way.</a:t>
            </a:r>
            <a:endParaRPr lang="en-US" sz="2250" dirty="0"/>
          </a:p>
          <a:p>
            <a:r>
              <a:rPr lang="en-US" sz="165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deep RL, I adjust a network instead of a table.   (Loss = ( target − </a:t>
            </a:r>
            <a:r>
              <a:rPr lang="en-US" sz="1650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</a:t>
            </a:r>
            <a:r>
              <a:rPr lang="en-US" sz="165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)² = ( [r + </a:t>
            </a:r>
            <a:r>
              <a:rPr lang="el-GR" sz="165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γ·</a:t>
            </a:r>
            <a:r>
              <a:rPr lang="en-US" sz="1650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maxQ</a:t>
            </a:r>
            <a:r>
              <a:rPr lang="en-US" sz="165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50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s',a</a:t>
            </a:r>
            <a:r>
              <a:rPr lang="en-US" sz="165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')] − </a:t>
            </a:r>
            <a:r>
              <a:rPr lang="en-US" sz="1650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Q_red</a:t>
            </a:r>
            <a:r>
              <a:rPr lang="en-US" sz="165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50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s,a</a:t>
            </a:r>
            <a:r>
              <a:rPr lang="en-US" sz="165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)²)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60120" y="7612380"/>
            <a:ext cx="16322040" cy="891540"/>
          </a:xfrm>
          <a:prstGeom prst="roundRect">
            <a:avLst>
              <a:gd name="adj" fmla="val 13846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14300" tIns="114300" rIns="114300" bIns="114300" rtlCol="0" anchor="ctr"/>
          <a:lstStyle/>
          <a:p>
            <a:r>
              <a:rPr lang="en-US" sz="2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millions of times - the policy converges to the optimal one</a:t>
            </a:r>
            <a:endParaRPr lang="en-US" sz="2100" dirty="0"/>
          </a:p>
        </p:txBody>
      </p:sp>
      <p:sp>
        <p:nvSpPr>
          <p:cNvPr id="11" name="Freeform 2">
            <a:extLst>
              <a:ext uri="{FF2B5EF4-FFF2-40B4-BE49-F238E27FC236}">
                <a16:creationId xmlns:a16="http://schemas.microsoft.com/office/drawing/2014/main" id="{B47CBA28-F2AF-30EE-3CC8-7F8D94B1C81F}"/>
              </a:ext>
            </a:extLst>
          </p:cNvPr>
          <p:cNvSpPr/>
          <p:nvPr/>
        </p:nvSpPr>
        <p:spPr>
          <a:xfrm>
            <a:off x="-803780" y="7720286"/>
            <a:ext cx="4258525" cy="4114800"/>
          </a:xfrm>
          <a:custGeom>
            <a:avLst/>
            <a:gdLst/>
            <a:ahLst/>
            <a:cxnLst/>
            <a:rect l="l" t="t" r="r" b="b"/>
            <a:pathLst>
              <a:path w="4258525" h="4114800">
                <a:moveTo>
                  <a:pt x="0" y="0"/>
                </a:moveTo>
                <a:lnTo>
                  <a:pt x="4258525" y="0"/>
                </a:lnTo>
                <a:lnTo>
                  <a:pt x="42585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899FEEE6-84AA-7354-FDB1-D06C036E6489}"/>
              </a:ext>
            </a:extLst>
          </p:cNvPr>
          <p:cNvSpPr/>
          <p:nvPr/>
        </p:nvSpPr>
        <p:spPr>
          <a:xfrm>
            <a:off x="15697200" y="669860"/>
            <a:ext cx="1519062" cy="251336"/>
          </a:xfrm>
          <a:custGeom>
            <a:avLst/>
            <a:gdLst/>
            <a:ahLst/>
            <a:cxnLst/>
            <a:rect l="l" t="t" r="r" b="b"/>
            <a:pathLst>
              <a:path w="1519062" h="251336">
                <a:moveTo>
                  <a:pt x="0" y="0"/>
                </a:moveTo>
                <a:lnTo>
                  <a:pt x="1519063" y="0"/>
                </a:lnTo>
                <a:lnTo>
                  <a:pt x="1519063" y="251336"/>
                </a:lnTo>
                <a:lnTo>
                  <a:pt x="0" y="251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A3271-EC24-A3BD-2B30-AF098995D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1CF2E0B4-E82A-765E-B7DE-0E4978F19464}"/>
              </a:ext>
            </a:extLst>
          </p:cNvPr>
          <p:cNvSpPr/>
          <p:nvPr/>
        </p:nvSpPr>
        <p:spPr>
          <a:xfrm>
            <a:off x="8534400" y="-1485900"/>
            <a:ext cx="4258525" cy="4114800"/>
          </a:xfrm>
          <a:custGeom>
            <a:avLst/>
            <a:gdLst/>
            <a:ahLst/>
            <a:cxnLst/>
            <a:rect l="l" t="t" r="r" b="b"/>
            <a:pathLst>
              <a:path w="4258525" h="4114800">
                <a:moveTo>
                  <a:pt x="0" y="0"/>
                </a:moveTo>
                <a:lnTo>
                  <a:pt x="4258525" y="0"/>
                </a:lnTo>
                <a:lnTo>
                  <a:pt x="42585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11FFC5D-76F8-C490-C0D4-84BEC65E21D0}"/>
              </a:ext>
            </a:extLst>
          </p:cNvPr>
          <p:cNvSpPr/>
          <p:nvPr/>
        </p:nvSpPr>
        <p:spPr>
          <a:xfrm>
            <a:off x="15740238" y="9006964"/>
            <a:ext cx="1519062" cy="251336"/>
          </a:xfrm>
          <a:custGeom>
            <a:avLst/>
            <a:gdLst/>
            <a:ahLst/>
            <a:cxnLst/>
            <a:rect l="l" t="t" r="r" b="b"/>
            <a:pathLst>
              <a:path w="1519062" h="251336">
                <a:moveTo>
                  <a:pt x="0" y="0"/>
                </a:moveTo>
                <a:lnTo>
                  <a:pt x="1519062" y="0"/>
                </a:lnTo>
                <a:lnTo>
                  <a:pt x="1519062" y="251336"/>
                </a:lnTo>
                <a:lnTo>
                  <a:pt x="0" y="251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DBA15125-ACC3-1A33-BAB5-92E8607BEB3E}"/>
              </a:ext>
            </a:extLst>
          </p:cNvPr>
          <p:cNvSpPr txBox="1"/>
          <p:nvPr/>
        </p:nvSpPr>
        <p:spPr>
          <a:xfrm>
            <a:off x="2133600" y="2276239"/>
            <a:ext cx="6550679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70"/>
              </a:lnSpc>
              <a:spcBef>
                <a:spcPct val="0"/>
              </a:spcBef>
            </a:pPr>
            <a:r>
              <a:rPr lang="en-US" sz="48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Tabular vs deep</a:t>
            </a:r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80F8953B-7056-E7A7-D747-9E969105BD1B}"/>
              </a:ext>
            </a:extLst>
          </p:cNvPr>
          <p:cNvSpPr txBox="1"/>
          <p:nvPr/>
        </p:nvSpPr>
        <p:spPr>
          <a:xfrm>
            <a:off x="1555755" y="4610100"/>
            <a:ext cx="7128524" cy="28469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209"/>
              </a:lnSpc>
              <a:spcBef>
                <a:spcPct val="0"/>
              </a:spcBef>
            </a:pP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n small problems that Q lives in a table. But my state space is enormous (every combination of boat positions and waiting groups. No table fits it. So I replace the table with a neural network that approximates Q and generalizes to states it hasn't seen. Same Bellman logic) greater reach. That's deep Q-learning.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D4E6CF1-C97C-FE3B-5396-66B77AA4F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3723" y="2781300"/>
            <a:ext cx="8041254" cy="5296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533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6870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loop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668780" y="2575560"/>
            <a:ext cx="5349240" cy="2606040"/>
          </a:xfrm>
          <a:prstGeom prst="roundRect">
            <a:avLst>
              <a:gd name="adj" fmla="val 4737"/>
            </a:avLst>
          </a:prstGeom>
          <a:solidFill>
            <a:srgbClr val="EEEDFE"/>
          </a:solidFill>
          <a:ln w="12700">
            <a:solidFill>
              <a:srgbClr val="534AB7"/>
            </a:solidFill>
          </a:ln>
        </p:spPr>
        <p:txBody>
          <a:bodyPr wrap="square" lIns="114300" tIns="114300" rIns="114300" bIns="114300" rtlCol="0" anchor="ctr"/>
          <a:lstStyle/>
          <a:p>
            <a:r>
              <a:rPr lang="en-US" sz="28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2800" dirty="0"/>
          </a:p>
          <a:p>
            <a:r>
              <a:rPr lang="en-US" sz="20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/ neural net</a:t>
            </a:r>
            <a:endParaRPr lang="en-US" sz="2800" dirty="0"/>
          </a:p>
          <a:p>
            <a:r>
              <a:rPr lang="en-US" sz="20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which boat goes where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269980" y="2575560"/>
            <a:ext cx="5349240" cy="2606040"/>
          </a:xfrm>
          <a:prstGeom prst="roundRect">
            <a:avLst>
              <a:gd name="adj" fmla="val 4737"/>
            </a:avLst>
          </a:prstGeom>
          <a:solidFill>
            <a:srgbClr val="E1F5EE"/>
          </a:solidFill>
          <a:ln w="12700">
            <a:solidFill>
              <a:srgbClr val="0F6E56"/>
            </a:solidFill>
          </a:ln>
        </p:spPr>
        <p:txBody>
          <a:bodyPr wrap="square" lIns="114300" tIns="114300" rIns="114300" bIns="114300" rtlCol="0" anchor="ctr"/>
          <a:lstStyle/>
          <a:p>
            <a:r>
              <a:rPr lang="en-US" sz="28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= simulator</a:t>
            </a:r>
            <a:endParaRPr lang="en-US" sz="2800" dirty="0"/>
          </a:p>
          <a:p>
            <a:r>
              <a:rPr lang="en-US" sz="20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boats, demand, times</a:t>
            </a:r>
            <a:endParaRPr lang="en-US" sz="2800" dirty="0"/>
          </a:p>
          <a:p>
            <a:r>
              <a:rPr lang="en-US" sz="20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MDP transition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018020" y="3329940"/>
            <a:ext cx="4251960" cy="0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  <a:tailEnd type="triangle"/>
          </a:ln>
        </p:spPr>
        <p:txBody>
          <a:bodyPr/>
          <a:lstStyle/>
          <a:p>
            <a:endParaRPr lang="es-CO" sz="3200"/>
          </a:p>
        </p:txBody>
      </p:sp>
      <p:sp>
        <p:nvSpPr>
          <p:cNvPr id="6" name="Text 4"/>
          <p:cNvSpPr/>
          <p:nvPr/>
        </p:nvSpPr>
        <p:spPr>
          <a:xfrm>
            <a:off x="6880860" y="2685288"/>
            <a:ext cx="4526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 "boat 1 → Kleppestø"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018020" y="4427220"/>
            <a:ext cx="4251960" cy="0"/>
          </a:xfrm>
          <a:prstGeom prst="line">
            <a:avLst/>
          </a:prstGeom>
          <a:noFill/>
          <a:ln w="25400">
            <a:solidFill>
              <a:srgbClr val="0F6E56"/>
            </a:solidFill>
            <a:prstDash val="solid"/>
            <a:headEnd type="triangle"/>
          </a:ln>
        </p:spPr>
        <p:txBody>
          <a:bodyPr/>
          <a:lstStyle/>
          <a:p>
            <a:endParaRPr lang="es-CO" sz="3200"/>
          </a:p>
        </p:txBody>
      </p:sp>
      <p:sp>
        <p:nvSpPr>
          <p:cNvPr id="8" name="Text 6"/>
          <p:cNvSpPr/>
          <p:nvPr/>
        </p:nvSpPr>
        <p:spPr>
          <a:xfrm>
            <a:off x="6675120" y="463296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+ reward:  new snapshot + score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63640" y="6210300"/>
            <a:ext cx="5760720" cy="1303020"/>
          </a:xfrm>
          <a:prstGeom prst="roundRect">
            <a:avLst>
              <a:gd name="adj" fmla="val 947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14300" tIns="114300" rIns="114300" bIns="114300" rtlCol="0" anchor="ctr"/>
          <a:lstStyle/>
          <a:p>
            <a:r>
              <a:rPr lang="en-US" sz="280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thousands of times</a:t>
            </a:r>
            <a:endParaRPr lang="en-US" sz="2800" dirty="0"/>
          </a:p>
          <a:p>
            <a:r>
              <a:rPr lang="en-US" sz="200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improves each loop</a:t>
            </a:r>
            <a:endParaRPr lang="en-US" sz="2800" dirty="0"/>
          </a:p>
        </p:txBody>
      </p:sp>
      <p:sp>
        <p:nvSpPr>
          <p:cNvPr id="11" name="Freeform 2">
            <a:extLst>
              <a:ext uri="{FF2B5EF4-FFF2-40B4-BE49-F238E27FC236}">
                <a16:creationId xmlns:a16="http://schemas.microsoft.com/office/drawing/2014/main" id="{ACBF367D-BEA7-2084-DE16-7A7ED4DE1A8D}"/>
              </a:ext>
            </a:extLst>
          </p:cNvPr>
          <p:cNvSpPr/>
          <p:nvPr/>
        </p:nvSpPr>
        <p:spPr>
          <a:xfrm>
            <a:off x="-803780" y="7720286"/>
            <a:ext cx="4258525" cy="4114800"/>
          </a:xfrm>
          <a:custGeom>
            <a:avLst/>
            <a:gdLst/>
            <a:ahLst/>
            <a:cxnLst/>
            <a:rect l="l" t="t" r="r" b="b"/>
            <a:pathLst>
              <a:path w="4258525" h="4114800">
                <a:moveTo>
                  <a:pt x="0" y="0"/>
                </a:moveTo>
                <a:lnTo>
                  <a:pt x="4258525" y="0"/>
                </a:lnTo>
                <a:lnTo>
                  <a:pt x="42585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501FD771-49F8-0351-551F-8E94010C50A1}"/>
              </a:ext>
            </a:extLst>
          </p:cNvPr>
          <p:cNvSpPr/>
          <p:nvPr/>
        </p:nvSpPr>
        <p:spPr>
          <a:xfrm>
            <a:off x="15697200" y="669860"/>
            <a:ext cx="1519062" cy="251336"/>
          </a:xfrm>
          <a:custGeom>
            <a:avLst/>
            <a:gdLst/>
            <a:ahLst/>
            <a:cxnLst/>
            <a:rect l="l" t="t" r="r" b="b"/>
            <a:pathLst>
              <a:path w="1519062" h="251336">
                <a:moveTo>
                  <a:pt x="0" y="0"/>
                </a:moveTo>
                <a:lnTo>
                  <a:pt x="1519063" y="0"/>
                </a:lnTo>
                <a:lnTo>
                  <a:pt x="1519063" y="251336"/>
                </a:lnTo>
                <a:lnTo>
                  <a:pt x="0" y="251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0494A59-5C22-69E9-897C-E2856D961B04}"/>
              </a:ext>
            </a:extLst>
          </p:cNvPr>
          <p:cNvSpPr txBox="1"/>
          <p:nvPr/>
        </p:nvSpPr>
        <p:spPr>
          <a:xfrm>
            <a:off x="4728754" y="7926027"/>
            <a:ext cx="13030200" cy="1150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292" dirty="0">
                <a:solidFill>
                  <a:srgbClr val="4B4B4B"/>
                </a:solidFill>
                <a:latin typeface="Roboto"/>
                <a:ea typeface="Roboto"/>
                <a:cs typeface="Roboto"/>
              </a:rPr>
              <a:t>The </a:t>
            </a:r>
            <a:r>
              <a:rPr lang="es-CO" sz="2292" dirty="0" err="1">
                <a:solidFill>
                  <a:srgbClr val="4B4B4B"/>
                </a:solidFill>
                <a:latin typeface="Roboto"/>
                <a:ea typeface="Roboto"/>
                <a:cs typeface="Roboto"/>
              </a:rPr>
              <a:t>agent</a:t>
            </a:r>
            <a:r>
              <a:rPr lang="es-CO" sz="2292" dirty="0">
                <a:solidFill>
                  <a:srgbClr val="4B4B4B"/>
                </a:solidFill>
                <a:latin typeface="Roboto"/>
                <a:ea typeface="Roboto"/>
                <a:cs typeface="Roboto"/>
              </a:rPr>
              <a:t> observes </a:t>
            </a:r>
            <a:r>
              <a:rPr lang="es-CO" sz="2292" dirty="0" err="1">
                <a:solidFill>
                  <a:srgbClr val="4B4B4B"/>
                </a:solidFill>
                <a:latin typeface="Roboto"/>
                <a:ea typeface="Roboto"/>
                <a:cs typeface="Roboto"/>
              </a:rPr>
              <a:t>state</a:t>
            </a:r>
            <a:r>
              <a:rPr lang="es-CO" sz="2292" dirty="0">
                <a:solidFill>
                  <a:srgbClr val="4B4B4B"/>
                </a:solidFill>
                <a:latin typeface="Roboto"/>
                <a:ea typeface="Roboto"/>
                <a:cs typeface="Roboto"/>
              </a:rPr>
              <a:t>, </a:t>
            </a:r>
            <a:r>
              <a:rPr lang="es-CO" sz="2292" dirty="0" err="1">
                <a:solidFill>
                  <a:srgbClr val="4B4B4B"/>
                </a:solidFill>
                <a:latin typeface="Roboto"/>
                <a:ea typeface="Roboto"/>
                <a:cs typeface="Roboto"/>
              </a:rPr>
              <a:t>picks</a:t>
            </a:r>
            <a:r>
              <a:rPr lang="es-CO" sz="2292" dirty="0">
                <a:solidFill>
                  <a:srgbClr val="4B4B4B"/>
                </a:solidFill>
                <a:latin typeface="Roboto"/>
                <a:ea typeface="Roboto"/>
                <a:cs typeface="Roboto"/>
              </a:rPr>
              <a:t> </a:t>
            </a:r>
            <a:r>
              <a:rPr lang="es-CO" sz="2292" dirty="0" err="1">
                <a:solidFill>
                  <a:srgbClr val="4B4B4B"/>
                </a:solidFill>
                <a:latin typeface="Roboto"/>
                <a:ea typeface="Roboto"/>
                <a:cs typeface="Roboto"/>
              </a:rPr>
              <a:t>an</a:t>
            </a:r>
            <a:r>
              <a:rPr lang="es-CO" sz="2292" dirty="0">
                <a:solidFill>
                  <a:srgbClr val="4B4B4B"/>
                </a:solidFill>
                <a:latin typeface="Roboto"/>
                <a:ea typeface="Roboto"/>
                <a:cs typeface="Roboto"/>
              </a:rPr>
              <a:t> </a:t>
            </a:r>
            <a:r>
              <a:rPr lang="es-CO" sz="2292" dirty="0" err="1">
                <a:solidFill>
                  <a:srgbClr val="4B4B4B"/>
                </a:solidFill>
                <a:latin typeface="Roboto"/>
                <a:ea typeface="Roboto"/>
                <a:cs typeface="Roboto"/>
              </a:rPr>
              <a:t>action</a:t>
            </a:r>
            <a:r>
              <a:rPr lang="es-CO" sz="2292" dirty="0">
                <a:solidFill>
                  <a:srgbClr val="4B4B4B"/>
                </a:solidFill>
                <a:latin typeface="Roboto"/>
                <a:ea typeface="Roboto"/>
                <a:cs typeface="Roboto"/>
              </a:rPr>
              <a:t>; </a:t>
            </a:r>
            <a:r>
              <a:rPr lang="es-CO" sz="2292" dirty="0" err="1">
                <a:solidFill>
                  <a:srgbClr val="4B4B4B"/>
                </a:solidFill>
                <a:latin typeface="Roboto"/>
                <a:ea typeface="Roboto"/>
                <a:cs typeface="Roboto"/>
              </a:rPr>
              <a:t>the</a:t>
            </a:r>
            <a:r>
              <a:rPr lang="es-CO" sz="2292" dirty="0">
                <a:solidFill>
                  <a:srgbClr val="4B4B4B"/>
                </a:solidFill>
                <a:latin typeface="Roboto"/>
                <a:ea typeface="Roboto"/>
                <a:cs typeface="Roboto"/>
              </a:rPr>
              <a:t> </a:t>
            </a:r>
            <a:r>
              <a:rPr lang="es-CO" sz="2292" dirty="0" err="1">
                <a:solidFill>
                  <a:srgbClr val="4B4B4B"/>
                </a:solidFill>
                <a:latin typeface="Roboto"/>
                <a:ea typeface="Roboto"/>
                <a:cs typeface="Roboto"/>
              </a:rPr>
              <a:t>environment</a:t>
            </a:r>
            <a:r>
              <a:rPr lang="es-CO" sz="2292" dirty="0">
                <a:solidFill>
                  <a:srgbClr val="4B4B4B"/>
                </a:solidFill>
                <a:latin typeface="Roboto"/>
                <a:ea typeface="Roboto"/>
                <a:cs typeface="Roboto"/>
              </a:rPr>
              <a:t> (</a:t>
            </a:r>
            <a:r>
              <a:rPr lang="es-CO" sz="2292" dirty="0" err="1">
                <a:solidFill>
                  <a:srgbClr val="4B4B4B"/>
                </a:solidFill>
                <a:latin typeface="Roboto"/>
                <a:ea typeface="Roboto"/>
                <a:cs typeface="Roboto"/>
              </a:rPr>
              <a:t>my</a:t>
            </a:r>
            <a:r>
              <a:rPr lang="es-CO" sz="2292" dirty="0">
                <a:solidFill>
                  <a:srgbClr val="4B4B4B"/>
                </a:solidFill>
                <a:latin typeface="Roboto"/>
                <a:ea typeface="Roboto"/>
                <a:cs typeface="Roboto"/>
              </a:rPr>
              <a:t> </a:t>
            </a:r>
            <a:r>
              <a:rPr lang="es-CO" sz="2292" dirty="0" err="1">
                <a:solidFill>
                  <a:srgbClr val="4B4B4B"/>
                </a:solidFill>
                <a:latin typeface="Roboto"/>
                <a:ea typeface="Roboto"/>
                <a:cs typeface="Roboto"/>
              </a:rPr>
              <a:t>simulator</a:t>
            </a:r>
            <a:r>
              <a:rPr lang="es-CO" sz="2292" dirty="0">
                <a:solidFill>
                  <a:srgbClr val="4B4B4B"/>
                </a:solidFill>
                <a:latin typeface="Roboto"/>
                <a:ea typeface="Roboto"/>
                <a:cs typeface="Roboto"/>
              </a:rPr>
              <a:t>) </a:t>
            </a:r>
            <a:r>
              <a:rPr lang="es-CO" sz="2292" dirty="0" err="1">
                <a:solidFill>
                  <a:srgbClr val="4B4B4B"/>
                </a:solidFill>
                <a:latin typeface="Roboto"/>
                <a:ea typeface="Roboto"/>
                <a:cs typeface="Roboto"/>
              </a:rPr>
              <a:t>returns</a:t>
            </a:r>
            <a:r>
              <a:rPr lang="es-CO" sz="2292" dirty="0">
                <a:solidFill>
                  <a:srgbClr val="4B4B4B"/>
                </a:solidFill>
                <a:latin typeface="Roboto"/>
                <a:ea typeface="Roboto"/>
                <a:cs typeface="Roboto"/>
              </a:rPr>
              <a:t> </a:t>
            </a:r>
            <a:r>
              <a:rPr lang="es-CO" sz="2292" dirty="0" err="1">
                <a:solidFill>
                  <a:srgbClr val="4B4B4B"/>
                </a:solidFill>
                <a:latin typeface="Roboto"/>
                <a:ea typeface="Roboto"/>
                <a:cs typeface="Roboto"/>
              </a:rPr>
              <a:t>the</a:t>
            </a:r>
            <a:r>
              <a:rPr lang="es-CO" sz="2292" dirty="0">
                <a:solidFill>
                  <a:srgbClr val="4B4B4B"/>
                </a:solidFill>
                <a:latin typeface="Roboto"/>
                <a:ea typeface="Roboto"/>
                <a:cs typeface="Roboto"/>
              </a:rPr>
              <a:t> new </a:t>
            </a:r>
            <a:r>
              <a:rPr lang="es-CO" sz="2292" dirty="0" err="1">
                <a:solidFill>
                  <a:srgbClr val="4B4B4B"/>
                </a:solidFill>
                <a:latin typeface="Roboto"/>
                <a:ea typeface="Roboto"/>
                <a:cs typeface="Roboto"/>
              </a:rPr>
              <a:t>state</a:t>
            </a:r>
            <a:r>
              <a:rPr lang="es-CO" sz="2292" dirty="0">
                <a:solidFill>
                  <a:srgbClr val="4B4B4B"/>
                </a:solidFill>
                <a:latin typeface="Roboto"/>
                <a:ea typeface="Roboto"/>
                <a:cs typeface="Roboto"/>
              </a:rPr>
              <a:t> and </a:t>
            </a:r>
            <a:r>
              <a:rPr lang="es-CO" sz="2292" dirty="0" err="1">
                <a:solidFill>
                  <a:srgbClr val="4B4B4B"/>
                </a:solidFill>
                <a:latin typeface="Roboto"/>
                <a:ea typeface="Roboto"/>
                <a:cs typeface="Roboto"/>
              </a:rPr>
              <a:t>reward</a:t>
            </a:r>
            <a:r>
              <a:rPr lang="es-CO" sz="2292" dirty="0">
                <a:solidFill>
                  <a:srgbClr val="4B4B4B"/>
                </a:solidFill>
                <a:latin typeface="Roboto"/>
                <a:ea typeface="Roboto"/>
                <a:cs typeface="Roboto"/>
              </a:rPr>
              <a:t>; </a:t>
            </a:r>
            <a:r>
              <a:rPr lang="es-CO" sz="2292" dirty="0" err="1">
                <a:solidFill>
                  <a:srgbClr val="4B4B4B"/>
                </a:solidFill>
                <a:latin typeface="Roboto"/>
                <a:ea typeface="Roboto"/>
                <a:cs typeface="Roboto"/>
              </a:rPr>
              <a:t>the</a:t>
            </a:r>
            <a:r>
              <a:rPr lang="es-CO" sz="2292" dirty="0">
                <a:solidFill>
                  <a:srgbClr val="4B4B4B"/>
                </a:solidFill>
                <a:latin typeface="Roboto"/>
                <a:ea typeface="Roboto"/>
                <a:cs typeface="Roboto"/>
              </a:rPr>
              <a:t> </a:t>
            </a:r>
            <a:r>
              <a:rPr lang="es-CO" sz="2292" dirty="0" err="1">
                <a:solidFill>
                  <a:srgbClr val="4B4B4B"/>
                </a:solidFill>
                <a:latin typeface="Roboto"/>
                <a:ea typeface="Roboto"/>
                <a:cs typeface="Roboto"/>
              </a:rPr>
              <a:t>agent</a:t>
            </a:r>
            <a:r>
              <a:rPr lang="es-CO" sz="2292" dirty="0">
                <a:solidFill>
                  <a:srgbClr val="4B4B4B"/>
                </a:solidFill>
                <a:latin typeface="Roboto"/>
                <a:ea typeface="Roboto"/>
                <a:cs typeface="Roboto"/>
              </a:rPr>
              <a:t> </a:t>
            </a:r>
            <a:r>
              <a:rPr lang="es-CO" sz="2292" dirty="0" err="1">
                <a:solidFill>
                  <a:srgbClr val="4B4B4B"/>
                </a:solidFill>
                <a:latin typeface="Roboto"/>
                <a:ea typeface="Roboto"/>
                <a:cs typeface="Roboto"/>
              </a:rPr>
              <a:t>adjusts</a:t>
            </a:r>
            <a:r>
              <a:rPr lang="es-CO" sz="2292" dirty="0">
                <a:solidFill>
                  <a:srgbClr val="4B4B4B"/>
                </a:solidFill>
                <a:latin typeface="Roboto"/>
                <a:ea typeface="Roboto"/>
                <a:cs typeface="Roboto"/>
              </a:rPr>
              <a:t>. The </a:t>
            </a:r>
            <a:r>
              <a:rPr lang="es-CO" sz="2292" dirty="0" err="1">
                <a:solidFill>
                  <a:srgbClr val="4B4B4B"/>
                </a:solidFill>
                <a:latin typeface="Roboto"/>
                <a:ea typeface="Roboto"/>
                <a:cs typeface="Roboto"/>
              </a:rPr>
              <a:t>simulator</a:t>
            </a:r>
            <a:r>
              <a:rPr lang="es-CO" sz="2292" dirty="0">
                <a:solidFill>
                  <a:srgbClr val="4B4B4B"/>
                </a:solidFill>
                <a:latin typeface="Roboto"/>
                <a:ea typeface="Roboto"/>
                <a:cs typeface="Roboto"/>
              </a:rPr>
              <a:t> </a:t>
            </a:r>
            <a:r>
              <a:rPr lang="es-CO" sz="2292" dirty="0" err="1">
                <a:solidFill>
                  <a:srgbClr val="4B4B4B"/>
                </a:solidFill>
                <a:latin typeface="Roboto"/>
                <a:ea typeface="Roboto"/>
                <a:cs typeface="Roboto"/>
              </a:rPr>
              <a:t>is</a:t>
            </a:r>
            <a:r>
              <a:rPr lang="es-CO" sz="2292" dirty="0">
                <a:solidFill>
                  <a:srgbClr val="4B4B4B"/>
                </a:solidFill>
                <a:latin typeface="Roboto"/>
                <a:ea typeface="Roboto"/>
                <a:cs typeface="Roboto"/>
              </a:rPr>
              <a:t> a </a:t>
            </a:r>
            <a:r>
              <a:rPr lang="es-CO" sz="2292" dirty="0" err="1">
                <a:solidFill>
                  <a:srgbClr val="4B4B4B"/>
                </a:solidFill>
                <a:latin typeface="Roboto"/>
                <a:ea typeface="Roboto"/>
                <a:cs typeface="Roboto"/>
              </a:rPr>
              <a:t>required</a:t>
            </a:r>
            <a:r>
              <a:rPr lang="es-CO" sz="2292" dirty="0">
                <a:solidFill>
                  <a:srgbClr val="4B4B4B"/>
                </a:solidFill>
                <a:latin typeface="Roboto"/>
                <a:ea typeface="Roboto"/>
                <a:cs typeface="Roboto"/>
              </a:rPr>
              <a:t> </a:t>
            </a:r>
            <a:r>
              <a:rPr lang="es-CO" sz="2292" dirty="0" err="1">
                <a:solidFill>
                  <a:srgbClr val="4B4B4B"/>
                </a:solidFill>
                <a:latin typeface="Roboto"/>
                <a:ea typeface="Roboto"/>
                <a:cs typeface="Roboto"/>
              </a:rPr>
              <a:t>piece</a:t>
            </a:r>
            <a:r>
              <a:rPr lang="es-CO" sz="2292" dirty="0">
                <a:solidFill>
                  <a:srgbClr val="4B4B4B"/>
                </a:solidFill>
                <a:latin typeface="Roboto"/>
                <a:ea typeface="Roboto"/>
                <a:cs typeface="Roboto"/>
              </a:rPr>
              <a:t>. The </a:t>
            </a:r>
            <a:r>
              <a:rPr lang="es-CO" sz="2292" dirty="0" err="1">
                <a:solidFill>
                  <a:srgbClr val="4B4B4B"/>
                </a:solidFill>
                <a:latin typeface="Roboto"/>
                <a:ea typeface="Roboto"/>
                <a:cs typeface="Roboto"/>
              </a:rPr>
              <a:t>agent</a:t>
            </a:r>
            <a:r>
              <a:rPr lang="es-CO" sz="2292" dirty="0">
                <a:solidFill>
                  <a:srgbClr val="4B4B4B"/>
                </a:solidFill>
                <a:latin typeface="Roboto"/>
                <a:ea typeface="Roboto"/>
                <a:cs typeface="Roboto"/>
              </a:rPr>
              <a:t> </a:t>
            </a:r>
            <a:r>
              <a:rPr lang="es-CO" sz="2292" dirty="0" err="1">
                <a:solidFill>
                  <a:srgbClr val="4B4B4B"/>
                </a:solidFill>
                <a:latin typeface="Roboto"/>
                <a:ea typeface="Roboto"/>
                <a:cs typeface="Roboto"/>
              </a:rPr>
              <a:t>learns</a:t>
            </a:r>
            <a:r>
              <a:rPr lang="es-CO" sz="2292" dirty="0">
                <a:solidFill>
                  <a:srgbClr val="4B4B4B"/>
                </a:solidFill>
                <a:latin typeface="Roboto"/>
                <a:ea typeface="Roboto"/>
                <a:cs typeface="Roboto"/>
              </a:rPr>
              <a:t> </a:t>
            </a:r>
            <a:r>
              <a:rPr lang="es-CO" sz="2292" dirty="0" err="1">
                <a:solidFill>
                  <a:srgbClr val="4B4B4B"/>
                </a:solidFill>
                <a:latin typeface="Roboto"/>
                <a:ea typeface="Roboto"/>
                <a:cs typeface="Roboto"/>
              </a:rPr>
              <a:t>by</a:t>
            </a:r>
            <a:r>
              <a:rPr lang="es-CO" sz="2292" dirty="0">
                <a:solidFill>
                  <a:srgbClr val="4B4B4B"/>
                </a:solidFill>
                <a:latin typeface="Roboto"/>
                <a:ea typeface="Roboto"/>
                <a:cs typeface="Roboto"/>
              </a:rPr>
              <a:t> trial and error and </a:t>
            </a:r>
            <a:r>
              <a:rPr lang="es-CO" sz="2292" dirty="0" err="1">
                <a:solidFill>
                  <a:srgbClr val="4B4B4B"/>
                </a:solidFill>
                <a:latin typeface="Roboto"/>
                <a:ea typeface="Roboto"/>
                <a:cs typeface="Roboto"/>
              </a:rPr>
              <a:t>needs</a:t>
            </a:r>
            <a:r>
              <a:rPr lang="es-CO" sz="2292" dirty="0">
                <a:solidFill>
                  <a:srgbClr val="4B4B4B"/>
                </a:solidFill>
                <a:latin typeface="Roboto"/>
                <a:ea typeface="Roboto"/>
                <a:cs typeface="Roboto"/>
              </a:rPr>
              <a:t> a </a:t>
            </a:r>
            <a:r>
              <a:rPr lang="es-CO" sz="2292" dirty="0" err="1">
                <a:solidFill>
                  <a:srgbClr val="4B4B4B"/>
                </a:solidFill>
                <a:latin typeface="Roboto"/>
                <a:ea typeface="Roboto"/>
                <a:cs typeface="Roboto"/>
              </a:rPr>
              <a:t>world</a:t>
            </a:r>
            <a:r>
              <a:rPr lang="es-CO" sz="2292" dirty="0">
                <a:solidFill>
                  <a:srgbClr val="4B4B4B"/>
                </a:solidFill>
                <a:latin typeface="Roboto"/>
                <a:ea typeface="Roboto"/>
                <a:cs typeface="Roboto"/>
              </a:rPr>
              <a:t> </a:t>
            </a:r>
            <a:r>
              <a:rPr lang="es-CO" sz="2292" dirty="0" err="1">
                <a:solidFill>
                  <a:srgbClr val="4B4B4B"/>
                </a:solidFill>
                <a:latin typeface="Roboto"/>
                <a:ea typeface="Roboto"/>
                <a:cs typeface="Roboto"/>
              </a:rPr>
              <a:t>to</a:t>
            </a:r>
            <a:r>
              <a:rPr lang="es-CO" sz="2292" dirty="0">
                <a:solidFill>
                  <a:srgbClr val="4B4B4B"/>
                </a:solidFill>
                <a:latin typeface="Roboto"/>
                <a:ea typeface="Roboto"/>
                <a:cs typeface="Roboto"/>
              </a:rPr>
              <a:t> </a:t>
            </a:r>
            <a:r>
              <a:rPr lang="es-CO" sz="2292" dirty="0" err="1">
                <a:solidFill>
                  <a:srgbClr val="4B4B4B"/>
                </a:solidFill>
                <a:latin typeface="Roboto"/>
                <a:ea typeface="Roboto"/>
                <a:cs typeface="Roboto"/>
              </a:rPr>
              <a:t>practice</a:t>
            </a:r>
            <a:r>
              <a:rPr lang="es-CO" sz="2292" dirty="0">
                <a:solidFill>
                  <a:srgbClr val="4B4B4B"/>
                </a:solidFill>
                <a:latin typeface="Roboto"/>
                <a:ea typeface="Roboto"/>
                <a:cs typeface="Roboto"/>
              </a:rPr>
              <a:t> in. </a:t>
            </a: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7206648B-6943-FE52-841C-1D859C5A4C4E}"/>
              </a:ext>
            </a:extLst>
          </p:cNvPr>
          <p:cNvSpPr/>
          <p:nvPr/>
        </p:nvSpPr>
        <p:spPr>
          <a:xfrm>
            <a:off x="1238794" y="9634214"/>
            <a:ext cx="1652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 err="1"/>
              <a:t>PyTorch</a:t>
            </a:r>
            <a:r>
              <a:rPr lang="en-US" sz="2000" dirty="0"/>
              <a:t> library for deep, Para el </a:t>
            </a:r>
            <a:r>
              <a:rPr lang="en-US" sz="2000" dirty="0" err="1"/>
              <a:t>entrenamiento</a:t>
            </a:r>
            <a:r>
              <a:rPr lang="en-US" sz="2000" dirty="0"/>
              <a:t> de </a:t>
            </a:r>
            <a:r>
              <a:rPr lang="en-US" sz="2000" dirty="0" err="1"/>
              <a:t>rl</a:t>
            </a:r>
            <a:r>
              <a:rPr lang="en-US" sz="2000" dirty="0"/>
              <a:t> </a:t>
            </a:r>
            <a:r>
              <a:rPr lang="en-US" sz="2000" dirty="0" err="1"/>
              <a:t>ya</a:t>
            </a:r>
            <a:r>
              <a:rPr lang="en-US" sz="2000" dirty="0"/>
              <a:t> </a:t>
            </a:r>
            <a:r>
              <a:rPr lang="en-US" sz="2000" dirty="0" err="1"/>
              <a:t>existe</a:t>
            </a:r>
            <a:r>
              <a:rPr lang="en-US" sz="2000" dirty="0"/>
              <a:t> </a:t>
            </a:r>
            <a:r>
              <a:rPr lang="es-CO" sz="2000" dirty="0"/>
              <a:t>Stable-Baselines3 solo es conectar el simulador y ella se entrena. El simulador lo construimos con la </a:t>
            </a:r>
            <a:r>
              <a:rPr lang="es-CO" sz="2000" dirty="0" err="1"/>
              <a:t>interfas</a:t>
            </a:r>
            <a:r>
              <a:rPr lang="es-CO" sz="2000" dirty="0"/>
              <a:t> estándar de </a:t>
            </a:r>
            <a:r>
              <a:rPr lang="es-CO" sz="2000" dirty="0" err="1"/>
              <a:t>Gymnasium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6870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(</a:t>
            </a:r>
            <a:r>
              <a:rPr lang="en-US" sz="3600" b="1" dirty="0" err="1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</a:t>
            </a:r>
            <a:r>
              <a:rPr lang="en-US" sz="3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</a:t>
            </a:r>
            <a:r>
              <a:rPr lang="en-US" sz="3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60120" y="1714500"/>
            <a:ext cx="16322040" cy="1303020"/>
          </a:xfrm>
          <a:prstGeom prst="roundRect">
            <a:avLst>
              <a:gd name="adj" fmla="val 9474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14300" tIns="114300" rIns="114300" bIns="114300" rtlCol="0" anchor="ctr"/>
          <a:lstStyle/>
          <a:p>
            <a:r>
              <a:rPr lang="en-US" sz="2250" b="1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Boats</a:t>
            </a:r>
            <a:endParaRPr lang="en-US" sz="2250" dirty="0"/>
          </a:p>
          <a:p>
            <a:r>
              <a:rPr lang="en-US" sz="1650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boat: </a:t>
            </a:r>
            <a:r>
              <a:rPr lang="es-MX" sz="1650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está (en qué nodo, o si va navegando, hacia dónde y cuánto le falta para llegar), y cuántos lugares libres tiene.</a:t>
            </a:r>
          </a:p>
          <a:p>
            <a:r>
              <a:rPr lang="es-MX" sz="1650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posición, destino si se mueve, minutos para llegar, ocupación.</a:t>
            </a:r>
            <a:endParaRPr lang="en-US" sz="1650" dirty="0">
              <a:solidFill>
                <a:srgbClr val="4A1B0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60120" y="3223260"/>
            <a:ext cx="16322040" cy="1165860"/>
          </a:xfrm>
          <a:prstGeom prst="roundRect">
            <a:avLst>
              <a:gd name="adj" fmla="val 10588"/>
            </a:avLst>
          </a:prstGeom>
          <a:solidFill>
            <a:srgbClr val="E6F1FB"/>
          </a:solidFill>
          <a:ln w="12700">
            <a:solidFill>
              <a:srgbClr val="185FA5"/>
            </a:solidFill>
          </a:ln>
        </p:spPr>
        <p:txBody>
          <a:bodyPr wrap="square" lIns="114300" tIns="114300" rIns="114300" bIns="114300" rtlCol="0" anchor="ctr"/>
          <a:lstStyle/>
          <a:p>
            <a:r>
              <a:rPr lang="en-US" sz="225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Demant</a:t>
            </a:r>
          </a:p>
          <a:p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par </a:t>
            </a:r>
            <a:r>
              <a:rPr lang="en-US" sz="1650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50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cuanta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gente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650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cuanto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50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 no se </a:t>
            </a:r>
            <a:r>
              <a:rPr lang="en-US" sz="1650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como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 </a:t>
            </a:r>
            <a:r>
              <a:rPr lang="en-US" sz="1650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mirarlos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)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60120" y="4594860"/>
            <a:ext cx="7955280" cy="1303020"/>
          </a:xfrm>
          <a:prstGeom prst="roundRect">
            <a:avLst>
              <a:gd name="adj" fmla="val 9474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114300" tIns="114300" rIns="114300" bIns="114300" rtlCol="0" anchor="ctr"/>
          <a:lstStyle/>
          <a:p>
            <a:r>
              <a:rPr lang="en-US" sz="22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2250" dirty="0"/>
          </a:p>
          <a:p>
            <a:r>
              <a:rPr lang="en-US" sz="165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y </a:t>
            </a:r>
            <a:r>
              <a:rPr lang="en-US" sz="1650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</a:t>
            </a:r>
            <a:r>
              <a:rPr lang="en-US" sz="165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</a:t>
            </a:r>
            <a:r>
              <a:rPr lang="en-US" sz="1650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</a:t>
            </a:r>
            <a:r>
              <a:rPr lang="en-US" sz="165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250" dirty="0"/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AC2B9880-1AC5-CF5D-0963-410603CCD27F}"/>
              </a:ext>
            </a:extLst>
          </p:cNvPr>
          <p:cNvSpPr/>
          <p:nvPr/>
        </p:nvSpPr>
        <p:spPr>
          <a:xfrm>
            <a:off x="-803780" y="7720286"/>
            <a:ext cx="4258525" cy="4114800"/>
          </a:xfrm>
          <a:custGeom>
            <a:avLst/>
            <a:gdLst/>
            <a:ahLst/>
            <a:cxnLst/>
            <a:rect l="l" t="t" r="r" b="b"/>
            <a:pathLst>
              <a:path w="4258525" h="4114800">
                <a:moveTo>
                  <a:pt x="0" y="0"/>
                </a:moveTo>
                <a:lnTo>
                  <a:pt x="4258525" y="0"/>
                </a:lnTo>
                <a:lnTo>
                  <a:pt x="42585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B5AFF51E-E4C1-605C-FE44-5876980AB7A8}"/>
              </a:ext>
            </a:extLst>
          </p:cNvPr>
          <p:cNvSpPr/>
          <p:nvPr/>
        </p:nvSpPr>
        <p:spPr>
          <a:xfrm>
            <a:off x="15697200" y="669860"/>
            <a:ext cx="1519062" cy="251336"/>
          </a:xfrm>
          <a:custGeom>
            <a:avLst/>
            <a:gdLst/>
            <a:ahLst/>
            <a:cxnLst/>
            <a:rect l="l" t="t" r="r" b="b"/>
            <a:pathLst>
              <a:path w="1519062" h="251336">
                <a:moveTo>
                  <a:pt x="0" y="0"/>
                </a:moveTo>
                <a:lnTo>
                  <a:pt x="1519063" y="0"/>
                </a:lnTo>
                <a:lnTo>
                  <a:pt x="1519063" y="251336"/>
                </a:lnTo>
                <a:lnTo>
                  <a:pt x="0" y="251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A5EAD-B3E0-9BCC-CDEC-87FDDA58A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041F87D-BBD3-48DC-34E6-6D6BBD03ED1F}"/>
              </a:ext>
            </a:extLst>
          </p:cNvPr>
          <p:cNvSpPr/>
          <p:nvPr/>
        </p:nvSpPr>
        <p:spPr>
          <a:xfrm>
            <a:off x="685800" y="384048"/>
            <a:ext cx="16870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(</a:t>
            </a:r>
            <a:r>
              <a:rPr lang="en-US" sz="3600" b="1" dirty="0" err="1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</a:t>
            </a:r>
            <a:r>
              <a:rPr lang="en-US" sz="3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</a:t>
            </a:r>
            <a:r>
              <a:rPr lang="en-US" sz="3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439ED1C-977F-FDC1-D67F-626613B3DA50}"/>
              </a:ext>
            </a:extLst>
          </p:cNvPr>
          <p:cNvSpPr/>
          <p:nvPr/>
        </p:nvSpPr>
        <p:spPr>
          <a:xfrm>
            <a:off x="960120" y="1714500"/>
            <a:ext cx="16322040" cy="1303020"/>
          </a:xfrm>
          <a:prstGeom prst="roundRect">
            <a:avLst>
              <a:gd name="adj" fmla="val 9474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14300" tIns="114300" rIns="114300" bIns="114300" rtlCol="0" anchor="ctr"/>
          <a:lstStyle/>
          <a:p>
            <a:r>
              <a:rPr lang="en-US" sz="2250" b="1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Boats</a:t>
            </a:r>
            <a:endParaRPr lang="en-US" sz="2250" dirty="0"/>
          </a:p>
          <a:p>
            <a:r>
              <a:rPr lang="en-US" sz="1650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boat: </a:t>
            </a:r>
            <a:r>
              <a:rPr lang="es-MX" sz="1650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está (en qué nodo, o si va navegando, hacia dónde y cuánto le falta para llegar), y cuántos lugares libres tiene.</a:t>
            </a:r>
          </a:p>
          <a:p>
            <a:r>
              <a:rPr lang="es-MX" sz="1650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posición, destino si se mueve, minutos para llegar, ocupación, esta libre?.</a:t>
            </a:r>
            <a:endParaRPr lang="en-US" sz="1650" dirty="0">
              <a:solidFill>
                <a:srgbClr val="4A1B0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AFF7B649-3794-238C-26BA-567C1B1AE2C4}"/>
              </a:ext>
            </a:extLst>
          </p:cNvPr>
          <p:cNvSpPr/>
          <p:nvPr/>
        </p:nvSpPr>
        <p:spPr>
          <a:xfrm>
            <a:off x="-803780" y="7720286"/>
            <a:ext cx="4258525" cy="4114800"/>
          </a:xfrm>
          <a:custGeom>
            <a:avLst/>
            <a:gdLst/>
            <a:ahLst/>
            <a:cxnLst/>
            <a:rect l="l" t="t" r="r" b="b"/>
            <a:pathLst>
              <a:path w="4258525" h="4114800">
                <a:moveTo>
                  <a:pt x="0" y="0"/>
                </a:moveTo>
                <a:lnTo>
                  <a:pt x="4258525" y="0"/>
                </a:lnTo>
                <a:lnTo>
                  <a:pt x="42585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3124E0B4-BE71-2DAC-2801-05FE0A46125C}"/>
              </a:ext>
            </a:extLst>
          </p:cNvPr>
          <p:cNvSpPr/>
          <p:nvPr/>
        </p:nvSpPr>
        <p:spPr>
          <a:xfrm>
            <a:off x="15697200" y="669860"/>
            <a:ext cx="1519062" cy="251336"/>
          </a:xfrm>
          <a:custGeom>
            <a:avLst/>
            <a:gdLst/>
            <a:ahLst/>
            <a:cxnLst/>
            <a:rect l="l" t="t" r="r" b="b"/>
            <a:pathLst>
              <a:path w="1519062" h="251336">
                <a:moveTo>
                  <a:pt x="0" y="0"/>
                </a:moveTo>
                <a:lnTo>
                  <a:pt x="1519063" y="0"/>
                </a:lnTo>
                <a:lnTo>
                  <a:pt x="1519063" y="251336"/>
                </a:lnTo>
                <a:lnTo>
                  <a:pt x="0" y="251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5A04B7F-5814-9961-FDD5-AB52E15CA7AA}"/>
              </a:ext>
            </a:extLst>
          </p:cNvPr>
          <p:cNvSpPr txBox="1"/>
          <p:nvPr/>
        </p:nvSpPr>
        <p:spPr>
          <a:xfrm>
            <a:off x="3962400" y="3390900"/>
            <a:ext cx="954894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estado = {</a:t>
            </a:r>
          </a:p>
          <a:p>
            <a:endParaRPr lang="es-CO" dirty="0"/>
          </a:p>
          <a:p>
            <a:r>
              <a:rPr lang="es-CO" dirty="0"/>
              <a:t>     "barcos": [</a:t>
            </a:r>
          </a:p>
          <a:p>
            <a:r>
              <a:rPr lang="es-CO" dirty="0"/>
              <a:t>     # Barco 0: quieto en </a:t>
            </a:r>
            <a:r>
              <a:rPr lang="es-CO" dirty="0" err="1"/>
              <a:t>Bryggen</a:t>
            </a:r>
            <a:r>
              <a:rPr lang="es-CO" dirty="0"/>
              <a:t>, vacío, sin pasajeros</a:t>
            </a:r>
          </a:p>
          <a:p>
            <a:r>
              <a:rPr lang="es-CO" dirty="0"/>
              <a:t>     { "origen": "B", "destino": "B", "</a:t>
            </a:r>
            <a:r>
              <a:rPr lang="es-CO" dirty="0" err="1"/>
              <a:t>min_para_llegar</a:t>
            </a:r>
            <a:r>
              <a:rPr lang="es-CO" dirty="0"/>
              <a:t>": 0, "</a:t>
            </a:r>
            <a:r>
              <a:rPr lang="es-CO" dirty="0" err="1"/>
              <a:t>ocupacion</a:t>
            </a:r>
            <a:r>
              <a:rPr lang="es-CO" dirty="0"/>
              <a:t>": 0, "libre": true },</a:t>
            </a:r>
          </a:p>
          <a:p>
            <a:r>
              <a:rPr lang="es-CO" dirty="0"/>
              <a:t>     # Barco 1: a media ruta de </a:t>
            </a:r>
            <a:r>
              <a:rPr lang="es-CO" dirty="0" err="1"/>
              <a:t>Kleppestø</a:t>
            </a:r>
            <a:r>
              <a:rPr lang="es-CO" dirty="0"/>
              <a:t> a </a:t>
            </a:r>
            <a:r>
              <a:rPr lang="es-CO" dirty="0" err="1"/>
              <a:t>Bryggen</a:t>
            </a:r>
            <a:r>
              <a:rPr lang="es-CO" dirty="0"/>
              <a:t>, con 12 personas, le faltan 6 min</a:t>
            </a:r>
          </a:p>
          <a:p>
            <a:r>
              <a:rPr lang="es-CO" dirty="0"/>
              <a:t>     { "origen": "K", "destino": "B", "</a:t>
            </a:r>
            <a:r>
              <a:rPr lang="es-CO" dirty="0" err="1"/>
              <a:t>min_para_llegar</a:t>
            </a:r>
            <a:r>
              <a:rPr lang="es-CO" dirty="0"/>
              <a:t>": 6, "</a:t>
            </a:r>
            <a:r>
              <a:rPr lang="es-CO" dirty="0" err="1"/>
              <a:t>ocupacion</a:t>
            </a:r>
            <a:r>
              <a:rPr lang="es-CO" dirty="0"/>
              <a:t>": 12, "libre": false }</a:t>
            </a:r>
          </a:p>
          <a:p>
            <a:r>
              <a:rPr lang="es-CO" dirty="0"/>
              <a:t>  ],</a:t>
            </a:r>
          </a:p>
          <a:p>
            <a:endParaRPr lang="es-CO" dirty="0"/>
          </a:p>
          <a:p>
            <a:endParaRPr lang="es-CO" dirty="0"/>
          </a:p>
          <a:p>
            <a:endParaRPr lang="es-CO" dirty="0"/>
          </a:p>
          <a:p>
            <a:r>
              <a:rPr lang="es-CO" dirty="0"/>
              <a:t>  "</a:t>
            </a:r>
            <a:r>
              <a:rPr lang="es-CO" dirty="0" err="1"/>
              <a:t>demanda_esperando</a:t>
            </a:r>
            <a:r>
              <a:rPr lang="es-CO" dirty="0"/>
              <a:t>": {</a:t>
            </a:r>
          </a:p>
          <a:p>
            <a:r>
              <a:rPr lang="es-CO" dirty="0"/>
              <a:t>     # por cada par origen-destino: cuánta gente y hace cuánto espera el más antiguo</a:t>
            </a:r>
          </a:p>
          <a:p>
            <a:r>
              <a:rPr lang="es-CO" dirty="0"/>
              <a:t>     "K-&gt;B": { "personas": 15, "</a:t>
            </a:r>
            <a:r>
              <a:rPr lang="es-CO" dirty="0" err="1"/>
              <a:t>espera_max_min</a:t>
            </a:r>
            <a:r>
              <a:rPr lang="es-CO" dirty="0"/>
              <a:t>": 8 },</a:t>
            </a:r>
          </a:p>
          <a:p>
            <a:r>
              <a:rPr lang="es-CO" dirty="0"/>
              <a:t>     "K-&gt;S": { "personas": 3,  "</a:t>
            </a:r>
            <a:r>
              <a:rPr lang="es-CO" dirty="0" err="1"/>
              <a:t>espera_max_min</a:t>
            </a:r>
            <a:r>
              <a:rPr lang="es-CO" dirty="0"/>
              <a:t>": 2 },</a:t>
            </a:r>
          </a:p>
          <a:p>
            <a:r>
              <a:rPr lang="es-CO" dirty="0"/>
              <a:t>     "L-&gt;B": { "personas": 0,  "</a:t>
            </a:r>
            <a:r>
              <a:rPr lang="es-CO" dirty="0" err="1"/>
              <a:t>espera_max_min</a:t>
            </a:r>
            <a:r>
              <a:rPr lang="es-CO" dirty="0"/>
              <a:t>": 0 },</a:t>
            </a:r>
          </a:p>
          <a:p>
            <a:r>
              <a:rPr lang="es-CO" dirty="0"/>
              <a:t>     ... (los 12 pares)</a:t>
            </a:r>
          </a:p>
          <a:p>
            <a:r>
              <a:rPr lang="es-CO" dirty="0"/>
              <a:t>  }</a:t>
            </a:r>
          </a:p>
          <a:p>
            <a:endParaRPr lang="es-CO" dirty="0"/>
          </a:p>
          <a:p>
            <a:r>
              <a:rPr lang="es-CO" dirty="0"/>
              <a:t>  "tiempo": { "</a:t>
            </a:r>
            <a:r>
              <a:rPr lang="es-CO" dirty="0" err="1"/>
              <a:t>minuto_del_dia</a:t>
            </a:r>
            <a:r>
              <a:rPr lang="es-CO" dirty="0"/>
              <a:t>": 465, “</a:t>
            </a:r>
            <a:r>
              <a:rPr lang="es-CO" dirty="0" err="1"/>
              <a:t>dia</a:t>
            </a:r>
            <a:r>
              <a:rPr lang="es-CO" dirty="0"/>
              <a:t>": “lunes" }</a:t>
            </a:r>
          </a:p>
          <a:p>
            <a:endParaRPr lang="es-CO" dirty="0"/>
          </a:p>
          <a:p>
            <a:r>
              <a:rPr lang="es-CO" dirty="0"/>
              <a:t>}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935F49D-536B-C2A4-DB53-98E32333D641}"/>
              </a:ext>
            </a:extLst>
          </p:cNvPr>
          <p:cNvSpPr txBox="1"/>
          <p:nvPr/>
        </p:nvSpPr>
        <p:spPr>
          <a:xfrm>
            <a:off x="0" y="6484054"/>
            <a:ext cx="9548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/>
              <a:t>(id, tamaño, tiempo de llegada, destino)</a:t>
            </a:r>
          </a:p>
        </p:txBody>
      </p:sp>
    </p:spTree>
    <p:extLst>
      <p:ext uri="{BB962C8B-B14F-4D97-AF65-F5344CB8AC3E}">
        <p14:creationId xmlns:p14="http://schemas.microsoft.com/office/powerpoint/2010/main" val="3889141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81A69-5207-731F-27DB-73A13EB31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0C0889C-1753-D939-7DF0-180AF47A59D3}"/>
              </a:ext>
            </a:extLst>
          </p:cNvPr>
          <p:cNvSpPr/>
          <p:nvPr/>
        </p:nvSpPr>
        <p:spPr>
          <a:xfrm>
            <a:off x="685800" y="384048"/>
            <a:ext cx="16870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(se </a:t>
            </a:r>
            <a:r>
              <a:rPr lang="en-US" sz="3600" b="1" dirty="0" err="1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despertaria</a:t>
            </a:r>
            <a:r>
              <a:rPr lang="en-US" sz="3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</a:t>
            </a:r>
            <a:r>
              <a:rPr lang="en-US" sz="3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3600" b="1" dirty="0" err="1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</a:t>
            </a:r>
            <a:r>
              <a:rPr lang="en-US" sz="3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llegue</a:t>
            </a:r>
            <a:r>
              <a:rPr lang="en-US" sz="3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D911141-08FE-B7FC-3CDA-23AA28431DFA}"/>
              </a:ext>
            </a:extLst>
          </p:cNvPr>
          <p:cNvSpPr/>
          <p:nvPr/>
        </p:nvSpPr>
        <p:spPr>
          <a:xfrm>
            <a:off x="894222" y="2371957"/>
            <a:ext cx="16322040" cy="1303020"/>
          </a:xfrm>
          <a:prstGeom prst="roundRect">
            <a:avLst>
              <a:gd name="adj" fmla="val 9474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14300" tIns="114300" rIns="114300" bIns="114300" rtlCol="0" anchor="ctr"/>
          <a:lstStyle/>
          <a:p>
            <a:r>
              <a:rPr lang="en-US" sz="2250" b="1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Boats</a:t>
            </a:r>
            <a:endParaRPr lang="en-US" sz="2250" dirty="0"/>
          </a:p>
          <a:p>
            <a:r>
              <a:rPr lang="es-MX" sz="1650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un barco disponible (uno que está libre en un nodo, o que acaba de terminar un viaje), la acción es elegir a qué nodo ir a continuación, o quedarse esperando.</a:t>
            </a:r>
            <a:endParaRPr lang="en-US" sz="1650" dirty="0">
              <a:solidFill>
                <a:srgbClr val="4A1B0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94027DC-77DD-40B8-D828-4C1BA1A3922D}"/>
              </a:ext>
            </a:extLst>
          </p:cNvPr>
          <p:cNvSpPr/>
          <p:nvPr/>
        </p:nvSpPr>
        <p:spPr>
          <a:xfrm>
            <a:off x="894222" y="3880717"/>
            <a:ext cx="16322040" cy="1165860"/>
          </a:xfrm>
          <a:prstGeom prst="roundRect">
            <a:avLst>
              <a:gd name="adj" fmla="val 10588"/>
            </a:avLst>
          </a:prstGeom>
          <a:solidFill>
            <a:srgbClr val="E6F1FB"/>
          </a:solidFill>
          <a:ln w="12700">
            <a:solidFill>
              <a:srgbClr val="185FA5"/>
            </a:solidFill>
          </a:ln>
        </p:spPr>
        <p:txBody>
          <a:bodyPr wrap="square" lIns="114300" tIns="114300" rIns="114300" bIns="114300" rtlCol="0" anchor="ctr"/>
          <a:lstStyle/>
          <a:p>
            <a:r>
              <a:rPr lang="en-US" sz="225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Demant (I would like)</a:t>
            </a:r>
          </a:p>
          <a:p>
            <a:r>
              <a:rPr lang="en-US" sz="1650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Decida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650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recoger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= </a:t>
            </a:r>
            <a:r>
              <a:rPr lang="es-MX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"ir a K y recoger el grupo tal".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2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0366AD-608C-1CEC-3C12-43F2EBFA4C7F}"/>
              </a:ext>
            </a:extLst>
          </p:cNvPr>
          <p:cNvSpPr/>
          <p:nvPr/>
        </p:nvSpPr>
        <p:spPr>
          <a:xfrm>
            <a:off x="894222" y="5252317"/>
            <a:ext cx="7955280" cy="1303020"/>
          </a:xfrm>
          <a:prstGeom prst="roundRect">
            <a:avLst>
              <a:gd name="adj" fmla="val 9474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114300" tIns="114300" rIns="114300" bIns="114300" rtlCol="0" anchor="ctr"/>
          <a:lstStyle/>
          <a:p>
            <a:r>
              <a:rPr lang="en-US" sz="22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Boats to </a:t>
            </a:r>
            <a:r>
              <a:rPr lang="en-US" sz="2250" b="1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</a:t>
            </a:r>
            <a:r>
              <a:rPr lang="en-US" sz="22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5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 would like)</a:t>
            </a:r>
            <a:endParaRPr lang="en-US" sz="2250" dirty="0"/>
          </a:p>
          <a:p>
            <a:r>
              <a:rPr lang="en-US" sz="165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Espero </a:t>
            </a:r>
            <a:r>
              <a:rPr lang="en-US" sz="1650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65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la </a:t>
            </a:r>
            <a:r>
              <a:rPr lang="en-US" sz="1650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penalizacon</a:t>
            </a:r>
            <a:r>
              <a:rPr lang="en-US" sz="165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</a:t>
            </a:r>
            <a:r>
              <a:rPr lang="en-US" sz="1650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cumpla</a:t>
            </a:r>
            <a:r>
              <a:rPr lang="en-US" sz="165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usar la </a:t>
            </a:r>
            <a:r>
              <a:rPr lang="en-US" sz="1650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</a:t>
            </a:r>
            <a:r>
              <a:rPr lang="en-US" sz="165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</a:t>
            </a:r>
            <a:r>
              <a:rPr lang="en-US" sz="165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Tambien </a:t>
            </a:r>
            <a:r>
              <a:rPr lang="en-US" sz="1650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podria</a:t>
            </a:r>
            <a:r>
              <a:rPr lang="en-US" sz="165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</a:t>
            </a:r>
            <a:r>
              <a:rPr lang="en-US" sz="165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165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penalizcion</a:t>
            </a:r>
            <a:r>
              <a:rPr lang="en-US" sz="165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650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estar</a:t>
            </a:r>
            <a:r>
              <a:rPr lang="en-US" sz="165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encendido</a:t>
            </a:r>
            <a:r>
              <a:rPr lang="en-US" sz="165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</a:t>
            </a:r>
            <a:r>
              <a:rPr lang="en-US" sz="1650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</a:t>
            </a:r>
            <a:r>
              <a:rPr lang="en-US" sz="165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</a:t>
            </a:r>
            <a:endParaRPr lang="en-US" sz="2250" dirty="0"/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AF527981-AFBC-37A5-932D-627207184D62}"/>
              </a:ext>
            </a:extLst>
          </p:cNvPr>
          <p:cNvSpPr/>
          <p:nvPr/>
        </p:nvSpPr>
        <p:spPr>
          <a:xfrm>
            <a:off x="-803780" y="7720286"/>
            <a:ext cx="4258525" cy="4114800"/>
          </a:xfrm>
          <a:custGeom>
            <a:avLst/>
            <a:gdLst/>
            <a:ahLst/>
            <a:cxnLst/>
            <a:rect l="l" t="t" r="r" b="b"/>
            <a:pathLst>
              <a:path w="4258525" h="4114800">
                <a:moveTo>
                  <a:pt x="0" y="0"/>
                </a:moveTo>
                <a:lnTo>
                  <a:pt x="4258525" y="0"/>
                </a:lnTo>
                <a:lnTo>
                  <a:pt x="42585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34312C3C-9EF6-FE57-CAA3-0B31CDFB1B34}"/>
              </a:ext>
            </a:extLst>
          </p:cNvPr>
          <p:cNvSpPr/>
          <p:nvPr/>
        </p:nvSpPr>
        <p:spPr>
          <a:xfrm>
            <a:off x="15697200" y="669860"/>
            <a:ext cx="1519062" cy="251336"/>
          </a:xfrm>
          <a:custGeom>
            <a:avLst/>
            <a:gdLst/>
            <a:ahLst/>
            <a:cxnLst/>
            <a:rect l="l" t="t" r="r" b="b"/>
            <a:pathLst>
              <a:path w="1519062" h="251336">
                <a:moveTo>
                  <a:pt x="0" y="0"/>
                </a:moveTo>
                <a:lnTo>
                  <a:pt x="1519063" y="0"/>
                </a:lnTo>
                <a:lnTo>
                  <a:pt x="1519063" y="251336"/>
                </a:lnTo>
                <a:lnTo>
                  <a:pt x="0" y="251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DE1C107-47C1-6DDB-7C44-D262AB71C580}"/>
              </a:ext>
            </a:extLst>
          </p:cNvPr>
          <p:cNvSpPr txBox="1"/>
          <p:nvPr/>
        </p:nvSpPr>
        <p:spPr>
          <a:xfrm>
            <a:off x="2133600" y="1053454"/>
            <a:ext cx="110337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>
                <a:solidFill>
                  <a:srgbClr val="4B4B4B"/>
                </a:solidFill>
                <a:latin typeface="Roboto"/>
                <a:ea typeface="Roboto"/>
                <a:cs typeface="Roboto"/>
              </a:rPr>
              <a:t>Yo quiero que también se despierte cuando llega un nuevo grupo y pueda redirigir barcos, o mantenerlos como están. (Se agranda el modelo).</a:t>
            </a:r>
            <a:br>
              <a:rPr lang="es-MX" sz="1600" dirty="0">
                <a:solidFill>
                  <a:srgbClr val="4B4B4B"/>
                </a:solidFill>
                <a:latin typeface="Roboto"/>
                <a:ea typeface="Roboto"/>
                <a:cs typeface="Roboto"/>
              </a:rPr>
            </a:br>
            <a:br>
              <a:rPr lang="es-MX" sz="1600" dirty="0">
                <a:solidFill>
                  <a:srgbClr val="4B4B4B"/>
                </a:solidFill>
                <a:latin typeface="Roboto"/>
                <a:ea typeface="Roboto"/>
                <a:cs typeface="Roboto"/>
              </a:rPr>
            </a:br>
            <a:r>
              <a:rPr lang="es-MX" sz="1600" dirty="0">
                <a:solidFill>
                  <a:srgbClr val="4B4B4B"/>
                </a:solidFill>
                <a:latin typeface="Roboto"/>
                <a:ea typeface="Roboto"/>
                <a:cs typeface="Roboto"/>
              </a:rPr>
              <a:t>O manejarlo no por eventos si no por tiempo, cada 2 min que se </a:t>
            </a:r>
            <a:r>
              <a:rPr lang="es-MX" sz="1600" dirty="0" err="1">
                <a:solidFill>
                  <a:srgbClr val="4B4B4B"/>
                </a:solidFill>
                <a:latin typeface="Roboto"/>
                <a:ea typeface="Roboto"/>
                <a:cs typeface="Roboto"/>
              </a:rPr>
              <a:t>envie</a:t>
            </a:r>
            <a:r>
              <a:rPr lang="es-MX" sz="1600" dirty="0">
                <a:solidFill>
                  <a:srgbClr val="4B4B4B"/>
                </a:solidFill>
                <a:latin typeface="Roboto"/>
                <a:ea typeface="Roboto"/>
                <a:cs typeface="Roboto"/>
              </a:rPr>
              <a:t> </a:t>
            </a:r>
            <a:endParaRPr lang="es-CO" sz="1600" dirty="0">
              <a:solidFill>
                <a:srgbClr val="4B4B4B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519D641-4A1F-32C2-64F4-FF15074DA0A6}"/>
              </a:ext>
            </a:extLst>
          </p:cNvPr>
          <p:cNvSpPr txBox="1"/>
          <p:nvPr/>
        </p:nvSpPr>
        <p:spPr>
          <a:xfrm>
            <a:off x="4075028" y="7505700"/>
            <a:ext cx="95489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dirty="0" err="1"/>
              <a:t>accion</a:t>
            </a:r>
            <a:r>
              <a:rPr lang="es-CO" dirty="0"/>
              <a:t> = {</a:t>
            </a:r>
          </a:p>
          <a:p>
            <a:r>
              <a:rPr lang="es-CO" dirty="0"/>
              <a:t>  "barco_0": "</a:t>
            </a:r>
            <a:r>
              <a:rPr lang="es-CO" dirty="0" err="1"/>
              <a:t>ir_a_K</a:t>
            </a:r>
            <a:r>
              <a:rPr lang="es-CO" dirty="0"/>
              <a:t>",   # manda el barco 0 a </a:t>
            </a:r>
            <a:r>
              <a:rPr lang="es-CO" dirty="0" err="1"/>
              <a:t>Kleppestø</a:t>
            </a:r>
            <a:endParaRPr lang="es-CO" dirty="0"/>
          </a:p>
          <a:p>
            <a:r>
              <a:rPr lang="es-CO" dirty="0"/>
              <a:t>  "barco_1": "seguir"    # el barco 1 sigue su ruta actual (no se toca)</a:t>
            </a:r>
          </a:p>
          <a:p>
            <a:r>
              <a:rPr lang="es-CO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73934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5B522-3A1A-4CC2-69F2-A31CAFDDE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A06C35B-0B4D-8460-671C-BB8902505E5A}"/>
              </a:ext>
            </a:extLst>
          </p:cNvPr>
          <p:cNvSpPr/>
          <p:nvPr/>
        </p:nvSpPr>
        <p:spPr>
          <a:xfrm>
            <a:off x="685800" y="384048"/>
            <a:ext cx="16870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design</a:t>
            </a:r>
            <a:endParaRPr lang="en-US" sz="3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EA3E066-528A-C670-759C-EBE12455409F}"/>
              </a:ext>
            </a:extLst>
          </p:cNvPr>
          <p:cNvSpPr/>
          <p:nvPr/>
        </p:nvSpPr>
        <p:spPr>
          <a:xfrm>
            <a:off x="960120" y="1714500"/>
            <a:ext cx="16322040" cy="1303020"/>
          </a:xfrm>
          <a:prstGeom prst="roundRect">
            <a:avLst>
              <a:gd name="adj" fmla="val 9474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114300" tIns="114300" rIns="114300" bIns="114300" rtlCol="0" anchor="ctr"/>
          <a:lstStyle/>
          <a:p>
            <a:r>
              <a:rPr lang="en-US" sz="2250" b="1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= total time(</a:t>
            </a:r>
            <a:r>
              <a:rPr lang="en-US" sz="2250" b="1" dirty="0" err="1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wait+travel</a:t>
            </a:r>
            <a:r>
              <a:rPr lang="en-US" sz="2250" b="1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− ideal direct time</a:t>
            </a:r>
            <a:endParaRPr lang="en-US" sz="2250" dirty="0"/>
          </a:p>
          <a:p>
            <a:r>
              <a:rPr lang="en-US" sz="1650" dirty="0">
                <a:solidFill>
                  <a:srgbClr val="4A1B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time = waiting to be picked up + travelling (incl. detours). If you go straight with no wait, excess = 0.</a:t>
            </a:r>
            <a:endParaRPr lang="en-US" sz="22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B7AC95D-CD02-C874-13D0-5828F476E26F}"/>
              </a:ext>
            </a:extLst>
          </p:cNvPr>
          <p:cNvSpPr/>
          <p:nvPr/>
        </p:nvSpPr>
        <p:spPr>
          <a:xfrm>
            <a:off x="960120" y="3223260"/>
            <a:ext cx="16322040" cy="2235708"/>
          </a:xfrm>
          <a:prstGeom prst="roundRect">
            <a:avLst>
              <a:gd name="adj" fmla="val 10588"/>
            </a:avLst>
          </a:prstGeom>
          <a:solidFill>
            <a:srgbClr val="E6F1FB"/>
          </a:solidFill>
          <a:ln w="12700">
            <a:solidFill>
              <a:srgbClr val="185FA5"/>
            </a:solidFill>
          </a:ln>
        </p:spPr>
        <p:txBody>
          <a:bodyPr wrap="square" lIns="114300" tIns="114300" rIns="114300" bIns="114300" rtlCol="0" anchor="ctr"/>
          <a:lstStyle/>
          <a:p>
            <a:r>
              <a:rPr lang="en-US" sz="225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per passenger = (</a:t>
            </a:r>
            <a:r>
              <a:rPr lang="en-US" sz="2250" b="1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exceso</a:t>
            </a:r>
            <a:r>
              <a:rPr lang="en-US" sz="2250" b="1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10)²</a:t>
            </a:r>
            <a:endParaRPr lang="en-US" sz="2250" dirty="0"/>
          </a:p>
          <a:p>
            <a:r>
              <a:rPr lang="en-US" sz="1650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penalización_pasajero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(</a:t>
            </a:r>
            <a:r>
              <a:rPr lang="en-US" sz="1650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exceso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10)²   - 10 </a:t>
            </a:r>
            <a:r>
              <a:rPr lang="en-US" sz="1650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razonables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ser molesta la </a:t>
            </a:r>
            <a:r>
              <a:rPr lang="en-US" sz="1650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50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modo de normalizer y </a:t>
            </a:r>
            <a:r>
              <a:rPr lang="en-US" sz="1650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penalidad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mas </a:t>
            </a:r>
            <a:r>
              <a:rPr lang="en-US" sz="1650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cortos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50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exceso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20 min = 4)</a:t>
            </a:r>
          </a:p>
          <a:p>
            <a:endParaRPr lang="en-US" sz="1650" dirty="0">
              <a:solidFill>
                <a:srgbClr val="042C5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650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sobrante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650" dirty="0" err="1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</a:t>
            </a:r>
            <a:r>
              <a:rPr lang="en-US" sz="1650" dirty="0">
                <a:solidFill>
                  <a:srgbClr val="042C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 T − 12)</a:t>
            </a:r>
          </a:p>
          <a:p>
            <a:endParaRPr lang="en-US" sz="1650" dirty="0">
              <a:solidFill>
                <a:srgbClr val="042C5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2250" dirty="0"/>
              <a:t>sobrante²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2AD9351-DF59-35FA-C5AD-C996C2800C60}"/>
              </a:ext>
            </a:extLst>
          </p:cNvPr>
          <p:cNvSpPr/>
          <p:nvPr/>
        </p:nvSpPr>
        <p:spPr>
          <a:xfrm>
            <a:off x="863742" y="5760720"/>
            <a:ext cx="7955280" cy="1303020"/>
          </a:xfrm>
          <a:prstGeom prst="roundRect">
            <a:avLst>
              <a:gd name="adj" fmla="val 9474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lIns="114300" tIns="114300" rIns="114300" bIns="114300" rtlCol="0" anchor="ctr"/>
          <a:lstStyle/>
          <a:p>
            <a:r>
              <a:rPr lang="en-US" sz="22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penalty: lost group</a:t>
            </a:r>
            <a:endParaRPr lang="en-US" sz="2250" dirty="0"/>
          </a:p>
          <a:p>
            <a:r>
              <a:rPr lang="en-US" sz="165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runs out (15/30 min), leaves by bus   --- </a:t>
            </a:r>
            <a:r>
              <a:rPr lang="es-MX" sz="1650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penalización_perdido</a:t>
            </a:r>
            <a:r>
              <a:rPr lang="es-MX" sz="165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10 × (personas en el grupo / </a:t>
            </a:r>
            <a:r>
              <a:rPr lang="es-MX" sz="1650" dirty="0" err="1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tamaño_medio</a:t>
            </a:r>
            <a:r>
              <a:rPr lang="es-MX" sz="165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2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3955FB7-19B1-0076-0EA6-66773449066F}"/>
              </a:ext>
            </a:extLst>
          </p:cNvPr>
          <p:cNvSpPr/>
          <p:nvPr/>
        </p:nvSpPr>
        <p:spPr>
          <a:xfrm>
            <a:off x="9230502" y="5760720"/>
            <a:ext cx="7955280" cy="1303020"/>
          </a:xfrm>
          <a:prstGeom prst="roundRect">
            <a:avLst>
              <a:gd name="adj" fmla="val 9474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114300" tIns="114300" rIns="114300" bIns="114300" rtlCol="0" anchor="ctr"/>
          <a:lstStyle/>
          <a:p>
            <a:r>
              <a:rPr lang="en-US" sz="225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penalty: boat move</a:t>
            </a:r>
            <a:endParaRPr lang="en-US" sz="2250" dirty="0"/>
          </a:p>
          <a:p>
            <a:r>
              <a:rPr lang="en-US" sz="165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discourages pointless repositioning    ------  0.1 </a:t>
            </a:r>
            <a:r>
              <a:rPr lang="en-US" sz="1650" dirty="0" err="1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65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</a:t>
            </a:r>
            <a:r>
              <a:rPr lang="en-US" sz="165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65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</a:t>
            </a:r>
            <a:r>
              <a:rPr lang="en-US" sz="165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(Espero </a:t>
            </a:r>
            <a:r>
              <a:rPr lang="en-US" sz="1650" dirty="0" err="1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</a:t>
            </a:r>
            <a:r>
              <a:rPr lang="en-US" sz="165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65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haga</a:t>
            </a:r>
            <a:r>
              <a:rPr lang="en-US" sz="165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</a:t>
            </a:r>
            <a:r>
              <a:rPr lang="en-US" sz="165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innesesarias</a:t>
            </a:r>
            <a:r>
              <a:rPr lang="en-US" sz="165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n-US" sz="1650" dirty="0" err="1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ademas</a:t>
            </a:r>
            <a:r>
              <a:rPr lang="en-US" sz="165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65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</a:t>
            </a:r>
            <a:r>
              <a:rPr lang="en-US" sz="1650" dirty="0" err="1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muevo</a:t>
            </a:r>
            <a:r>
              <a:rPr lang="en-US" sz="165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</a:t>
            </a:r>
            <a:r>
              <a:rPr lang="en-US" sz="165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botes</a:t>
            </a:r>
            <a:r>
              <a:rPr lang="en-US" sz="165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165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es </a:t>
            </a:r>
            <a:r>
              <a:rPr lang="en-US" sz="1650" dirty="0" err="1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necesario</a:t>
            </a:r>
            <a:r>
              <a:rPr lang="en-US" sz="165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50" dirty="0" err="1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osea</a:t>
            </a:r>
            <a:r>
              <a:rPr lang="en-US" sz="165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deje</a:t>
            </a:r>
            <a:r>
              <a:rPr lang="en-US" sz="165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apagados</a:t>
            </a:r>
            <a:r>
              <a:rPr lang="en-US" sz="165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50" dirty="0" err="1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algunos</a:t>
            </a:r>
            <a:r>
              <a:rPr lang="en-US" sz="165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2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96181CE-DA1D-5BD9-C7D1-44F7A35C5E55}"/>
              </a:ext>
            </a:extLst>
          </p:cNvPr>
          <p:cNvSpPr/>
          <p:nvPr/>
        </p:nvSpPr>
        <p:spPr>
          <a:xfrm>
            <a:off x="863742" y="7269480"/>
            <a:ext cx="16322040" cy="1097280"/>
          </a:xfrm>
          <a:prstGeom prst="roundRect">
            <a:avLst>
              <a:gd name="adj" fmla="val 11250"/>
            </a:avLst>
          </a:prstGeom>
          <a:solidFill>
            <a:srgbClr val="E1F5EE"/>
          </a:solidFill>
          <a:ln w="12700">
            <a:solidFill>
              <a:srgbClr val="0F6E56"/>
            </a:solidFill>
          </a:ln>
        </p:spPr>
        <p:txBody>
          <a:bodyPr wrap="square" lIns="114300" tIns="114300" rIns="114300" bIns="114300" rtlCol="0" anchor="ctr"/>
          <a:lstStyle/>
          <a:p>
            <a:r>
              <a:rPr lang="en-US" sz="225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per step = − </a:t>
            </a:r>
            <a:r>
              <a:rPr lang="es-MX" sz="225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Σ(exceso/10)² − Σ 10×(personas/media) por perdido − 0.1 × movimientos</a:t>
            </a:r>
            <a:endParaRPr lang="en-US" sz="22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845B2F1-B6A5-D35C-43BC-DD0167CE88BE}"/>
              </a:ext>
            </a:extLst>
          </p:cNvPr>
          <p:cNvSpPr/>
          <p:nvPr/>
        </p:nvSpPr>
        <p:spPr>
          <a:xfrm>
            <a:off x="863742" y="8572500"/>
            <a:ext cx="16322040" cy="1303020"/>
          </a:xfrm>
          <a:prstGeom prst="roundRect">
            <a:avLst>
              <a:gd name="adj" fmla="val 947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114300" tIns="114300" rIns="114300" bIns="114300" rtlCol="0" anchor="ctr"/>
          <a:lstStyle/>
          <a:p>
            <a:r>
              <a:rPr lang="en-US" sz="2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quadratic leads where we want</a:t>
            </a:r>
            <a:endParaRPr lang="en-US" sz="2100" dirty="0"/>
          </a:p>
          <a:p>
            <a:r>
              <a:rPr lang="en-US" sz="16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everyone reasonably well rather than a few perfect and many terrible → fair, direct-as-possible service</a:t>
            </a:r>
            <a:endParaRPr lang="en-US" sz="2100" dirty="0"/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D3EE22F1-7DCE-ECCD-71C3-F92EF8ABC6A9}"/>
              </a:ext>
            </a:extLst>
          </p:cNvPr>
          <p:cNvSpPr/>
          <p:nvPr/>
        </p:nvSpPr>
        <p:spPr>
          <a:xfrm>
            <a:off x="-803780" y="7720286"/>
            <a:ext cx="4258525" cy="4114800"/>
          </a:xfrm>
          <a:custGeom>
            <a:avLst/>
            <a:gdLst/>
            <a:ahLst/>
            <a:cxnLst/>
            <a:rect l="l" t="t" r="r" b="b"/>
            <a:pathLst>
              <a:path w="4258525" h="4114800">
                <a:moveTo>
                  <a:pt x="0" y="0"/>
                </a:moveTo>
                <a:lnTo>
                  <a:pt x="4258525" y="0"/>
                </a:lnTo>
                <a:lnTo>
                  <a:pt x="42585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9786C0A3-939B-2A95-B2F9-9C9AC62D2AAD}"/>
              </a:ext>
            </a:extLst>
          </p:cNvPr>
          <p:cNvSpPr/>
          <p:nvPr/>
        </p:nvSpPr>
        <p:spPr>
          <a:xfrm>
            <a:off x="15697200" y="669860"/>
            <a:ext cx="1519062" cy="251336"/>
          </a:xfrm>
          <a:custGeom>
            <a:avLst/>
            <a:gdLst/>
            <a:ahLst/>
            <a:cxnLst/>
            <a:rect l="l" t="t" r="r" b="b"/>
            <a:pathLst>
              <a:path w="1519062" h="251336">
                <a:moveTo>
                  <a:pt x="0" y="0"/>
                </a:moveTo>
                <a:lnTo>
                  <a:pt x="1519063" y="0"/>
                </a:lnTo>
                <a:lnTo>
                  <a:pt x="1519063" y="251336"/>
                </a:lnTo>
                <a:lnTo>
                  <a:pt x="0" y="251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00368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B9E0B-1A4F-94C0-424C-B06659022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48163114-B6E7-AF83-33DA-4DCD75118AC5}"/>
              </a:ext>
            </a:extLst>
          </p:cNvPr>
          <p:cNvSpPr/>
          <p:nvPr/>
        </p:nvSpPr>
        <p:spPr>
          <a:xfrm>
            <a:off x="8534400" y="-1485900"/>
            <a:ext cx="4258525" cy="4114800"/>
          </a:xfrm>
          <a:custGeom>
            <a:avLst/>
            <a:gdLst/>
            <a:ahLst/>
            <a:cxnLst/>
            <a:rect l="l" t="t" r="r" b="b"/>
            <a:pathLst>
              <a:path w="4258525" h="4114800">
                <a:moveTo>
                  <a:pt x="0" y="0"/>
                </a:moveTo>
                <a:lnTo>
                  <a:pt x="4258525" y="0"/>
                </a:lnTo>
                <a:lnTo>
                  <a:pt x="42585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676481A-F7C9-E3AD-0E96-FE061B4BFE54}"/>
              </a:ext>
            </a:extLst>
          </p:cNvPr>
          <p:cNvSpPr/>
          <p:nvPr/>
        </p:nvSpPr>
        <p:spPr>
          <a:xfrm>
            <a:off x="15740238" y="9006964"/>
            <a:ext cx="1519062" cy="251336"/>
          </a:xfrm>
          <a:custGeom>
            <a:avLst/>
            <a:gdLst/>
            <a:ahLst/>
            <a:cxnLst/>
            <a:rect l="l" t="t" r="r" b="b"/>
            <a:pathLst>
              <a:path w="1519062" h="251336">
                <a:moveTo>
                  <a:pt x="0" y="0"/>
                </a:moveTo>
                <a:lnTo>
                  <a:pt x="1519062" y="0"/>
                </a:lnTo>
                <a:lnTo>
                  <a:pt x="1519062" y="251336"/>
                </a:lnTo>
                <a:lnTo>
                  <a:pt x="0" y="251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D84318C0-6AC0-363A-6371-1DAB3A0DD5F0}"/>
              </a:ext>
            </a:extLst>
          </p:cNvPr>
          <p:cNvSpPr txBox="1"/>
          <p:nvPr/>
        </p:nvSpPr>
        <p:spPr>
          <a:xfrm>
            <a:off x="1527452" y="571500"/>
            <a:ext cx="6550679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design</a:t>
            </a:r>
            <a:endParaRPr lang="en-US" sz="4800" dirty="0"/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F3C44C7E-BBDF-681C-8492-684FE6CDFBE0}"/>
              </a:ext>
            </a:extLst>
          </p:cNvPr>
          <p:cNvSpPr txBox="1"/>
          <p:nvPr/>
        </p:nvSpPr>
        <p:spPr>
          <a:xfrm>
            <a:off x="1527452" y="2628900"/>
            <a:ext cx="15007948" cy="4078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209"/>
              </a:lnSpc>
              <a:spcBef>
                <a:spcPct val="0"/>
              </a:spcBef>
            </a:pP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Restricciones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b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barco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solo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puede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subir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a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grupos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que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esten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en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su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capacidad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(Los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grupos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son indivisibles)</a:t>
            </a:r>
          </a:p>
          <a:p>
            <a:pPr marL="0" lvl="0" indent="0" algn="l">
              <a:lnSpc>
                <a:spcPts val="3209"/>
              </a:lnSpc>
              <a:spcBef>
                <a:spcPct val="0"/>
              </a:spcBef>
            </a:pPr>
            <a:endParaRPr lang="en-US" sz="2400" dirty="0">
              <a:solidFill>
                <a:srgbClr val="4B4B4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>
              <a:lnSpc>
                <a:spcPts val="3209"/>
              </a:lnSpc>
              <a:spcBef>
                <a:spcPct val="0"/>
              </a:spcBef>
            </a:pPr>
            <a:endParaRPr lang="en-US" sz="2400" dirty="0">
              <a:solidFill>
                <a:srgbClr val="4B4B4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>
              <a:lnSpc>
                <a:spcPts val="3209"/>
              </a:lnSpc>
              <a:spcBef>
                <a:spcPct val="0"/>
              </a:spcBef>
            </a:pPr>
            <a:endParaRPr lang="en-US" sz="2400" dirty="0">
              <a:solidFill>
                <a:srgbClr val="4B4B4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>
              <a:lnSpc>
                <a:spcPts val="3209"/>
              </a:lnSpc>
              <a:spcBef>
                <a:spcPct val="0"/>
              </a:spcBef>
            </a:pP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Decisiones</a:t>
            </a:r>
            <a:endParaRPr lang="en-US" sz="2400" dirty="0">
              <a:solidFill>
                <a:srgbClr val="4B4B4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>
              <a:lnSpc>
                <a:spcPts val="3209"/>
              </a:lnSpc>
              <a:spcBef>
                <a:spcPct val="0"/>
              </a:spcBef>
            </a:pP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Cantidad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flojas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fijas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? Voy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cambiandolo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en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cada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corrida y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viendo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su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mejora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2.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Penalizo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por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cada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barco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active ?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Buscadno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que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si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no lo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necesita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no lo use.</a:t>
            </a:r>
            <a:b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</a:br>
            <a:endParaRPr lang="en-US" sz="2400" dirty="0">
              <a:solidFill>
                <a:srgbClr val="4B4B4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158168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0DBC2-566E-0491-A750-4A9E37C93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02658BED-2F10-A7C6-0A55-3F4097CED62C}"/>
              </a:ext>
            </a:extLst>
          </p:cNvPr>
          <p:cNvSpPr/>
          <p:nvPr/>
        </p:nvSpPr>
        <p:spPr>
          <a:xfrm>
            <a:off x="8534400" y="-1485900"/>
            <a:ext cx="4258525" cy="4114800"/>
          </a:xfrm>
          <a:custGeom>
            <a:avLst/>
            <a:gdLst/>
            <a:ahLst/>
            <a:cxnLst/>
            <a:rect l="l" t="t" r="r" b="b"/>
            <a:pathLst>
              <a:path w="4258525" h="4114800">
                <a:moveTo>
                  <a:pt x="0" y="0"/>
                </a:moveTo>
                <a:lnTo>
                  <a:pt x="4258525" y="0"/>
                </a:lnTo>
                <a:lnTo>
                  <a:pt x="425852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6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28C2F56-7865-33DC-7362-4653CEF7895F}"/>
              </a:ext>
            </a:extLst>
          </p:cNvPr>
          <p:cNvSpPr/>
          <p:nvPr/>
        </p:nvSpPr>
        <p:spPr>
          <a:xfrm>
            <a:off x="15740238" y="9006964"/>
            <a:ext cx="1519062" cy="251336"/>
          </a:xfrm>
          <a:custGeom>
            <a:avLst/>
            <a:gdLst/>
            <a:ahLst/>
            <a:cxnLst/>
            <a:rect l="l" t="t" r="r" b="b"/>
            <a:pathLst>
              <a:path w="1519062" h="251336">
                <a:moveTo>
                  <a:pt x="0" y="0"/>
                </a:moveTo>
                <a:lnTo>
                  <a:pt x="1519062" y="0"/>
                </a:lnTo>
                <a:lnTo>
                  <a:pt x="1519062" y="251336"/>
                </a:lnTo>
                <a:lnTo>
                  <a:pt x="0" y="251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B798897A-E7FB-A809-345D-3C1C911B553D}"/>
              </a:ext>
            </a:extLst>
          </p:cNvPr>
          <p:cNvSpPr txBox="1"/>
          <p:nvPr/>
        </p:nvSpPr>
        <p:spPr>
          <a:xfrm>
            <a:off x="1527452" y="571500"/>
            <a:ext cx="6550679" cy="738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800" b="1" dirty="0" err="1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</a:t>
            </a:r>
            <a:endParaRPr lang="en-US" sz="4800" dirty="0"/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F5CA40F1-0CA6-FA44-D13A-2AB11C4EF1E7}"/>
              </a:ext>
            </a:extLst>
          </p:cNvPr>
          <p:cNvSpPr txBox="1"/>
          <p:nvPr/>
        </p:nvSpPr>
        <p:spPr>
          <a:xfrm>
            <a:off x="1527452" y="2628900"/>
            <a:ext cx="15007948" cy="36676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algn="l">
              <a:lnSpc>
                <a:spcPts val="3209"/>
              </a:lnSpc>
              <a:spcBef>
                <a:spcPct val="0"/>
              </a:spcBef>
              <a:buAutoNum type="arabicPeriod"/>
            </a:pP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Tiempos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transiscion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+ 1 min de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cada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parada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 (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esto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de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hacer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paradas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como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va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sumando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en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el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tiempo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se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penaliza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en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el excess</a:t>
            </a:r>
          </a:p>
          <a:p>
            <a:pPr marL="457200" lvl="0" indent="-457200" algn="l">
              <a:lnSpc>
                <a:spcPts val="3209"/>
              </a:lnSpc>
              <a:spcBef>
                <a:spcPct val="0"/>
              </a:spcBef>
              <a:buAutoNum type="arabicPeriod"/>
            </a:pP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Lo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manejamos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por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grupos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o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iniciamos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hacienodlo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solo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por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personas individual, lo de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grupo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lo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tomamos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del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paiper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y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porque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si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sabemos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que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computacional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mente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sera super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demandante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individual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pero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es algo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que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no se ha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probado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, vale la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pena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dejar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grupos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desde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2400" dirty="0" err="1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ya</a:t>
            </a:r>
            <a: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  <a:t> ?</a:t>
            </a:r>
          </a:p>
          <a:p>
            <a:pPr marL="457200" lvl="0" indent="-457200" algn="l">
              <a:lnSpc>
                <a:spcPts val="3209"/>
              </a:lnSpc>
              <a:spcBef>
                <a:spcPct val="0"/>
              </a:spcBef>
              <a:buAutoNum type="arabicPeriod"/>
            </a:pPr>
            <a:b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</a:br>
            <a:br>
              <a:rPr lang="en-US" sz="2400" dirty="0">
                <a:solidFill>
                  <a:srgbClr val="4B4B4B"/>
                </a:solidFill>
                <a:latin typeface="Roboto"/>
                <a:ea typeface="Roboto"/>
                <a:cs typeface="Roboto"/>
                <a:sym typeface="Roboto"/>
              </a:rPr>
            </a:br>
            <a:endParaRPr lang="en-US" sz="2400" dirty="0">
              <a:solidFill>
                <a:srgbClr val="4B4B4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7460785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48640"/>
            <a:ext cx="1632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3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environment: the MDP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987552" y="1453896"/>
            <a:ext cx="1632204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 sz="2700"/>
          </a:p>
        </p:txBody>
      </p:sp>
      <p:sp>
        <p:nvSpPr>
          <p:cNvPr id="5" name="Text 3"/>
          <p:cNvSpPr/>
          <p:nvPr/>
        </p:nvSpPr>
        <p:spPr>
          <a:xfrm>
            <a:off x="1371600" y="212598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5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4526280" y="2125980"/>
            <a:ext cx="1261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boat positions and occupancy, passengers waiting per pair, time of day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71600" y="34290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5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4526280" y="3429000"/>
            <a:ext cx="1261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each boat, go to one of the four points, or wait (no mid-route change)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71600" y="47320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5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Transition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4526280" y="4732020"/>
            <a:ext cx="1261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simulator, boats move on real times, demand arrives, 2-minute steps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71600" y="60350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5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526280" y="6035040"/>
            <a:ext cx="1261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penalises time in the system and inefficient movement 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71600" y="73380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250" b="1" dirty="0">
                <a:solidFill>
                  <a:srgbClr val="3A5A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Discount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4526280" y="7338060"/>
            <a:ext cx="1261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gamma = 0.99, high, so the agent looks ahead and avoids the tail effect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34440" y="8778240"/>
            <a:ext cx="1591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simulator is the environment. It is deterministic once the demand realisation is fixed.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48640"/>
            <a:ext cx="1632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3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Reward, derived from the objective (Little's law)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987552" y="1453896"/>
            <a:ext cx="1632204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 sz="2700"/>
          </a:p>
        </p:txBody>
      </p:sp>
      <p:sp>
        <p:nvSpPr>
          <p:cNvPr id="4" name="Text 2"/>
          <p:cNvSpPr/>
          <p:nvPr/>
        </p:nvSpPr>
        <p:spPr>
          <a:xfrm>
            <a:off x="17007840" y="96697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5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1851660"/>
            <a:ext cx="150876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True objective (minimise):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34440" y="2468880"/>
            <a:ext cx="1577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55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sum_i T_i  +  lambda . sum  movements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34440" y="3703320"/>
            <a:ext cx="159105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Identity: total time in system equals the area under the count of passengers present.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34440" y="4320540"/>
            <a:ext cx="1577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55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sum_i T_i  =  integral N(t) dt  approx  sum_t  N_t . dt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234440" y="5554980"/>
            <a:ext cx="159105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0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penalising the passengers present each step is minimising total time in system.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234440" y="6172200"/>
            <a:ext cx="1577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250" dirty="0">
                <a:solidFill>
                  <a:srgbClr val="26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r_t = - ( sum_active s_i . dt  +  lambda . boats_moving )     gives     sum_t r_t = - J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34440" y="7680960"/>
            <a:ext cx="1591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reward is the incremental form of the objective, not a hand-tuned guess (Little 1961, Ng et al. 1999).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548640"/>
            <a:ext cx="1632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300" b="1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 dispatch policy (the baseline)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987552" y="1453896"/>
            <a:ext cx="16322040" cy="0"/>
          </a:xfrm>
          <a:prstGeom prst="line">
            <a:avLst/>
          </a:prstGeom>
          <a:noFill/>
          <a:ln w="19050">
            <a:solidFill>
              <a:srgbClr val="3A5A78"/>
            </a:solidFill>
            <a:prstDash val="solid"/>
          </a:ln>
        </p:spPr>
        <p:txBody>
          <a:bodyPr/>
          <a:lstStyle/>
          <a:p>
            <a:endParaRPr lang="es-CO" sz="2700"/>
          </a:p>
        </p:txBody>
      </p:sp>
      <p:sp>
        <p:nvSpPr>
          <p:cNvPr id="4" name="Text 2"/>
          <p:cNvSpPr/>
          <p:nvPr/>
        </p:nvSpPr>
        <p:spPr>
          <a:xfrm>
            <a:off x="17007840" y="96697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5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34440" y="1920240"/>
            <a:ext cx="15910560" cy="7406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514350" indent="-514350">
              <a:lnSpc>
                <a:spcPct val="112000"/>
              </a:lnSpc>
              <a:spcAft>
                <a:spcPts val="1050"/>
              </a:spcAft>
              <a:buSzPct val="100000"/>
              <a:buChar char="•"/>
            </a:pPr>
            <a:r>
              <a:rPr lang="en-US" sz="225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fixed greedy rule, no learning: when a boat is free, send it to serve the passengers who have waited longest and that it can still reach in time.</a:t>
            </a:r>
            <a:endParaRPr lang="en-US" sz="2250" dirty="0"/>
          </a:p>
          <a:p>
            <a:pPr marL="514350" indent="-514350">
              <a:lnSpc>
                <a:spcPct val="112000"/>
              </a:lnSpc>
              <a:spcAft>
                <a:spcPts val="1050"/>
              </a:spcAft>
              <a:buSzPct val="100000"/>
              <a:buChar char="•"/>
            </a:pPr>
            <a:r>
              <a:rPr lang="en-US" sz="225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Boats are coordinated. They are assigned one at a time, and each assignment is subtracted from the queues before the next boat decides, so two boats do not chase the same passengers.</a:t>
            </a:r>
            <a:endParaRPr lang="en-US" sz="2250" dirty="0"/>
          </a:p>
          <a:p>
            <a:pPr marL="514350" indent="-514350">
              <a:lnSpc>
                <a:spcPct val="112000"/>
              </a:lnSpc>
              <a:spcAft>
                <a:spcPts val="1050"/>
              </a:spcAft>
              <a:buSzPct val="100000"/>
              <a:buChar char="•"/>
            </a:pPr>
            <a:r>
              <a:rPr lang="en-US" sz="225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not a weak baseline. It is a competent coordinated heuristic, which makes it a demanding target for the agent.</a:t>
            </a:r>
            <a:endParaRPr lang="en-US" sz="2250" dirty="0"/>
          </a:p>
          <a:p>
            <a:pPr marL="514350" indent="-514350">
              <a:lnSpc>
                <a:spcPct val="112000"/>
              </a:lnSpc>
              <a:spcAft>
                <a:spcPts val="1050"/>
              </a:spcAft>
              <a:buSzPct val="100000"/>
              <a:buChar char="•"/>
            </a:pPr>
            <a:r>
              <a:rPr lang="en-US" sz="2250" dirty="0">
                <a:solidFill>
                  <a:srgbClr val="26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written as an interchangeable function, so the agent can replace it without touching the simulator.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33499</TotalTime>
  <Words>2311</Words>
  <Application>Microsoft Office PowerPoint</Application>
  <PresentationFormat>Personalizado</PresentationFormat>
  <Paragraphs>221</Paragraphs>
  <Slides>23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4" baseType="lpstr">
      <vt:lpstr>Roboto</vt:lpstr>
      <vt:lpstr>Arial</vt:lpstr>
      <vt:lpstr>Aileron</vt:lpstr>
      <vt:lpstr>Georgia</vt:lpstr>
      <vt:lpstr>Open Sans</vt:lpstr>
      <vt:lpstr>Calibri</vt:lpstr>
      <vt:lpstr>Aptos</vt:lpstr>
      <vt:lpstr>Roboto Bold</vt:lpstr>
      <vt:lpstr>Consolas</vt:lpstr>
      <vt:lpstr>Aileron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Schedule-Free Autonomous Boats in Bergen</dc:title>
  <dc:creator>Haider Yesid Fonseca Najar</dc:creator>
  <cp:lastModifiedBy>Haider Yesid Fonseca Najar</cp:lastModifiedBy>
  <cp:revision>3</cp:revision>
  <dcterms:created xsi:type="dcterms:W3CDTF">2006-08-16T00:00:00Z</dcterms:created>
  <dcterms:modified xsi:type="dcterms:W3CDTF">2026-09-28T11:08:58Z</dcterms:modified>
  <dc:identifier>DAHSiLhGiQA</dc:identifier>
</cp:coreProperties>
</file>