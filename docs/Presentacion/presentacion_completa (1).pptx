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PPO agent</c:v>
                </c:pt>
              </c:strCache>
            </c:strRef>
          </c:tx>
          <c:spPr>
            <a:solidFill>
              <a:srgbClr val="3A5A7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Attended %</c:v>
                </c:pt>
                <c:pt idx="1">
                  <c:v>Mean time (min)</c:v>
                </c:pt>
                <c:pt idx="2">
                  <c:v>Max time (min)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29</c:v>
                </c:pt>
                <c:pt idx="2">
                  <c:v>60.8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91-43E4-8D82-21AE8148D2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AEB0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Attended %</c:v>
                </c:pt>
                <c:pt idx="1">
                  <c:v>Mean time (min)</c:v>
                </c:pt>
                <c:pt idx="2">
                  <c:v>Max time (min)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</c:v>
                </c:pt>
                <c:pt idx="1">
                  <c:v>26.1</c:v>
                </c:pt>
                <c:pt idx="2">
                  <c:v>69.7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91-43E4-8D82-21AE8148D2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Attended %</c:v>
                </c:pt>
              </c:strCache>
            </c:strRef>
          </c:tx>
          <c:spPr>
            <a:solidFill>
              <a:srgbClr val="3A5A7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n_steps 512</c:v>
                </c:pt>
                <c:pt idx="1">
                  <c:v>n_steps 90</c:v>
                </c:pt>
                <c:pt idx="2">
                  <c:v>baseline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77.5</c:v>
                </c:pt>
                <c:pt idx="2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53-4AAC-AFCA-58F1988BF1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763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Schedule-free autonomous boats in Bergen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868680" y="3291840"/>
            <a:ext cx="3840480" cy="0"/>
          </a:xfrm>
          <a:prstGeom prst="line">
            <a:avLst/>
          </a:prstGeom>
          <a:noFill/>
          <a:ln w="2540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reinforcement-learning approach to real-time fleet dispatch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NHH  .  Supervisors: J. C. Goez, S. W. Wallace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and motivation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Bergen is a coastal city fragmented by fjords. Land transport is congested and expensive to expand.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autonomous boats could connect points that are close by water but far by road, with no drivers and no fixed timetable.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study the real-time operation of such a service over four points: Kleppesto, Laksevag, Bryggen and Sandviken.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Passengers state where and when they want to arrive. The system decides, moment by moment, how the boats move.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of the thesis: can a learned policy operate this system well, close to the best possible service.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 and the gap we fill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 and Wallace (2021), autonomous water taxis in Bergen: a static model for terminal location, fleet and routing.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Braathen, Goez and Guajardo (2024), autonomous ferries under labour rules: a static weekly plan with pre-built routes.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Sanchez-Martinez et al. (2017): schedule-free high-frequency transit, the operating idea behind this work.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of these are static and solved with full demand known in advance.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contribution: the real-time operation under demand uncertainty, learned rather than pre-computed. This is the dynamic piece the group's static models did not cover.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built, in sequence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Navigable routing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13716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over-water travel times (water mask and Dijkstra)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Demand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215798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demand anchored in open SSB data (gravity model)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Environment (MDP)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0" y="294436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discrete-time simulator, 2-minute steps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307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Reference policy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373075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coordinated greedy heuristic (the baseline)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1713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Learning agent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45171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PPO agent trained in the simulator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303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Comparison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0" y="53035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against baseline on real service metrics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Navigable routing (1): method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2120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 lines between points cross land. A boat has to go around the coast.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water and land mask is built from map tiles, classifying each pixel.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water pixel becomes a node, connected only to neighbouring water pixels.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 finds the shortest path that never crosses land.</a:t>
            </a:r>
            <a:endParaRPr lang="en-US" sz="1350" dirty="0"/>
          </a:p>
        </p:txBody>
      </p:sp>
      <p:pic>
        <p:nvPicPr>
          <p:cNvPr id="6" name="Image 0" descr="/home/claude/figs/mapa_mascara_ag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562" y="1188720"/>
            <a:ext cx="573511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58064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and land mask over Bergen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Navigable routing (2): result and calibration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pic>
        <p:nvPicPr>
          <p:cNvPr id="5" name="Image 0" descr="/home/claude/figs/mapa_rutas_naveg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9141"/>
            <a:ext cx="5852160" cy="35253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5321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Navigable routes between the four points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0" y="128016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set to a design value of 30 km per hour.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Kleppesto to Bryggen is about 11.5 minutes, close to the real 14-minute ferry crossing, which calibrates the model.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 is a travel-time matrix used everywhere downstream.</a:t>
            </a:r>
            <a:endParaRPr lang="en-US" sz="1400" dirty="0"/>
          </a:p>
        </p:txBody>
      </p:sp>
      <p:pic>
        <p:nvPicPr>
          <p:cNvPr id="8" name="Image 1" descr="/home/claude/figs/heatmap_tiempos_navegab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270" y="3383280"/>
            <a:ext cx="3628339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6400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Travel-time matrix (minutes)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model (1): catchment areas and masses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real demand exists, so it is generated, but anchored in open data.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Around each point we take the real statistical zones it serves.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Statistics Norway (SSB) we read residents per zone (origin mass) and jobs per zone (destination mass).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real masses replace the hand-picked scores used in earlier work.</a:t>
            </a:r>
            <a:endParaRPr lang="en-US" sz="1350" dirty="0"/>
          </a:p>
        </p:txBody>
      </p:sp>
      <p:pic>
        <p:nvPicPr>
          <p:cNvPr id="6" name="Image 0" descr="/home/claude/figs/mapa_general_zonas_grunnkret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439" y="1097280"/>
            <a:ext cx="4493362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5486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Catchment zones per point (SSB grunnkretser)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model (2): gravity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Relative flow between two points: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flow(i, j)  =  mass_origin(i) x mass_dest(j) x exp( - travel_time(i,j) / tau 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577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Masses come from SSB (residents and jobs).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friction term uses the real navigable travel time.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switch by time band: mornings weight residents at the origin (home to work), afternoons weight jobs (work to home).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90 to 10 morning split toward the centre was not imposed, it emerges from the data (it came out near 83 to 17).</a:t>
            </a:r>
            <a:endParaRPr lang="en-US" sz="1350" dirty="0"/>
          </a:p>
        </p:txBody>
      </p:sp>
      <p:pic>
        <p:nvPicPr>
          <p:cNvPr id="8" name="Image 0" descr="/home/claude/figs/heatmaps_od_por_fran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78" y="2286000"/>
            <a:ext cx="4506163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6400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Origin-destination intensity by time band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model (3): arrivals and group sizes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2120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daily volume is anchored to the national travel survey, about 3.26 trips per person per day, times a small water-capture fraction.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Arrivals over the day follow a Poisson process whose rate rises and falls with the time band.</a:t>
            </a:r>
            <a:endParaRPr lang="en-US" sz="135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Passengers arrive in groups, mean size about 8.6, matching Braathen et al.</a:t>
            </a:r>
            <a:endParaRPr lang="en-US" sz="1350" dirty="0"/>
          </a:p>
        </p:txBody>
      </p:sp>
      <p:pic>
        <p:nvPicPr>
          <p:cNvPr id="6" name="Image 0" descr="/home/claude/figs/perfil_demanda_h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18" y="1234440"/>
            <a:ext cx="4826203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37033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profile by hour (morning and afternoon peaks)</a:t>
            </a:r>
            <a:endParaRPr lang="en-US" sz="1100" dirty="0"/>
          </a:p>
        </p:txBody>
      </p:sp>
      <p:pic>
        <p:nvPicPr>
          <p:cNvPr id="8" name="Image 1" descr="/home/claude/figs/histograma_tamano_gru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0" y="4206240"/>
            <a:ext cx="3445459" cy="2194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5040" y="6400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Group-size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environment: the MDP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417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 positions and occupancy, passengers waiting per pair, time of 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each boat, go to one of the four points, or wait (no mid-route change)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3154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simulator, boats move on real times, demand arrives, 2-minute steps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023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penalises time in the system and inefficient movement (next slide)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4892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gamma = 0.99, high, so the agent looks ahead and avoids the tail effect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 is the environment. It is deterministic once the demand realisation is fixed.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Reward, derived from the objective (Little's law)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objective (minimise):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sum_i T_i  +  lambda . sum  movements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Identity: total time in system equals the area under the count of passengers present.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sum_i T_i  =  integral N(t) dt  approx  sum_t  N_t . dt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penalising the passengers present each step is minimising total time in system.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r_t = - ( sum_active s_i . dt  +  lambda . boats_moving )     gives     sum_t r_t = - J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reward is the incremental form of the objective, not a hand-tuned guess (Little 1961, Ng et al. 1999).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dispatch policy (the baseline)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fixed greedy rule, no learning: when a boat is free, send it to serve the passengers who have waited longest and that it can still reach in time.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Boats are coordinated. They are assigned one at a time, and each assignment is subtracted from the queues before the next boat decides, so two boats do not chase the same passengers.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weak baseline. It is a competent coordinated heuristic, which makes it a demanding target for the agent.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written as an interchangeable function, so the agent can replace it without touching the simulator.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policy: verification at three scales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on morning, full day and full week, checking that every passenger ends accounted for (served, or still waiting at the end).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detailed metrics per pair, per boat and per user.</a:t>
            </a:r>
            <a:endParaRPr lang="en-US" sz="1400" dirty="0"/>
          </a:p>
        </p:txBody>
      </p:sp>
      <p:pic>
        <p:nvPicPr>
          <p:cNvPr id="6" name="Image 0" descr="/home/claude/figs/politica_base_perfil_esp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1097280"/>
            <a:ext cx="4659782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Waiting profile over the day</a:t>
            </a:r>
            <a:endParaRPr lang="en-US" sz="1100" dirty="0"/>
          </a:p>
        </p:txBody>
      </p:sp>
      <p:pic>
        <p:nvPicPr>
          <p:cNvPr id="8" name="Image 1" descr="/home/claude/figs/politica_base_snapsh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057384"/>
            <a:ext cx="5486400" cy="21265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Snapshots of the fleet in operation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agent: PPO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is one choice per boat (a MultiDiscrete space). DQN cannot handle this, so we use PPO.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is an actor-critic method. A policy network chooses actions, a value network estimates how good a state is.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Proximal means each update changes the policy only a little, which keeps training stable.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DQN and PPO use neural networks. The difference is what the network learns, values or the policy itself.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reward and the discount define the objective. Bellman's relation drives the value updates inside PPO.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Agent: observation, action and hyperparameters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8521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Observation, a fixed-length vector: one block per boat, demand aggregated per origin-destination pair, and the time of day.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identities are one-hot, and all quantities are normalised so the network learns well.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Action, one destination per boat, or wait.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34440"/>
          <a:ext cx="4937760" cy="29443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Hyperparameter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Value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Algorithm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PPO (Stable-Baselines3)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Discount gamma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0.99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Learning rate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0.0003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Entropy coef.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Update horizon n_steps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512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Normalisation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VecNormalize (obs and reward)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Training steps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150,000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Train / eval seeds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123 / 1001-1005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Reward-shaping experiments (short runs to choose the design)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371600"/>
          <a:ext cx="822960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Variant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Setting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Attended %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Max time (min)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 penalty, with ceiling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47.8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118.1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 penalty, no ceiling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51.9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88.4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C1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 + movement 0.003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52.0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139.9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C2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 + movement 0.001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44.7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69.0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" y="3657600"/>
            <a:ext cx="98755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exploration runs of 30,000 steps, only to pick the reward design (not the final agent).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Removing the ceiling (B) beats A, the agent feels the urgency to serve the longest-waiting first.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movement weight (about 0.003) keeps the fleet moving without paralysis. The final agent uses no ceiling with a small movement weight.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Agent: training run and fresh demand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training episode draws a fresh demand realisation, so the agent sees many different weeks and learns to generalise, not memorise. This is a Monte-Carlo view over demand.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uses held-out seeds the agent never trained on.</a:t>
            </a:r>
            <a:endParaRPr lang="en-US" sz="1400" dirty="0"/>
          </a:p>
        </p:txBody>
      </p:sp>
      <p:pic>
        <p:nvPicPr>
          <p:cNvPr id="6" name="Image 0" descr="/home/claude/figs/rl_trai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953491"/>
            <a:ext cx="5486400" cy="24938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curve (reward per episode)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Comparison: agent against baseline (five seeds)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234440"/>
          <a:ext cx="70408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1463040"/>
            <a:ext cx="3749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Parity on demand served, 88 against 88.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Slightly higher mean time (29 against 26).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worst case (60.8 against 69.7).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total reward (-3772 against -5259).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reaches a strong coordinated heuristic and improves the worst case.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Comparison: detail on a single held-out seed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age 0" descr="/home/claude/figs/comparacion_perfil_espera_semilla1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7181"/>
            <a:ext cx="5577840" cy="20890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5204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Waiting profile, agent vs baseline</a:t>
            </a:r>
            <a:endParaRPr lang="en-US" sz="1100" dirty="0"/>
          </a:p>
        </p:txBody>
      </p:sp>
      <p:pic>
        <p:nvPicPr>
          <p:cNvPr id="7" name="Image 1" descr="/home/claude/figs/comparacion_ocupacion_semilla1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381"/>
            <a:ext cx="5577840" cy="20890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2636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occupancy, agent vs baseline</a:t>
            </a:r>
            <a:endParaRPr lang="en-US" sz="1100" dirty="0"/>
          </a:p>
        </p:txBody>
      </p:sp>
      <p:pic>
        <p:nvPicPr>
          <p:cNvPr id="9" name="Image 2" descr="/home/claude/figs/rl_heatmaps_comparad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951390"/>
            <a:ext cx="5212080" cy="28637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0" y="5212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per origin-destination pair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hyperparameter matters: update horizon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188720" y="137160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863840" y="1554480"/>
            <a:ext cx="3840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reward and training budget, only the PPO update horizon changes.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512 reaches parity with the baseline, 90 does not.</a:t>
            </a:r>
            <a:endParaRPr lang="en-US" sz="14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reminder that early failures were configuration, not the approach itself.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 and limitations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is synthetic. It is anchored in real population, jobs and the national travel survey, but not observed.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Boats make direct point-to-point trips. Multi-stop routes and mixed destinations are a later extension.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catchment zones and the water-capture fraction are design choices, to be tested for sensitivity.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are a first end-to-end version on the morning instance, not the final tuned model.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does not yet choose which passengers to pick up. A fixed rule does that for now.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pipeline is in place: navigable routing, data-anchored demand, an MDP simulator, a coordinated baseline and a learned PPO agent.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reward is derived from the true objective through Little's law, not hand-tuned.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held-out demand the agent reaches parity with a strong coordinated heuristic and improves the worst-case time.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compare the reward variants under longer training, then scale from the morning to a full day and week.</a:t>
            </a:r>
            <a:endParaRPr lang="en-US" sz="1500" dirty="0"/>
          </a:p>
          <a:p>
            <a:pPr marL="342900" indent="-3429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contribution is a learned, real-time, schedule-free policy, the dynamic operation the earlier static models did not address.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1890</Words>
  <Application>Microsoft Office PowerPoint</Application>
  <PresentationFormat>Panorámica</PresentationFormat>
  <Paragraphs>215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Haider Yesid Fonseca Najar</cp:lastModifiedBy>
  <cp:revision>1</cp:revision>
  <dcterms:created xsi:type="dcterms:W3CDTF">2026-09-11T09:38:54Z</dcterms:created>
  <dcterms:modified xsi:type="dcterms:W3CDTF">2026-09-28T11:08:20Z</dcterms:modified>
</cp:coreProperties>
</file>