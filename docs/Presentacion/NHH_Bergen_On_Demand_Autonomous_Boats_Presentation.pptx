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30" y="16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der Yesid Fonseca Najar" userId="73f9163c-41a4-46db-a396-54c94cc9cf95" providerId="ADAL" clId="{8AF7FC4C-CF9B-4A6B-AAD0-0DBF7EC8CD02}"/>
    <pc:docChg chg="modSld">
      <pc:chgData name="Haider Yesid Fonseca Najar" userId="73f9163c-41a4-46db-a396-54c94cc9cf95" providerId="ADAL" clId="{8AF7FC4C-CF9B-4A6B-AAD0-0DBF7EC8CD02}" dt="2026-09-30T11:40:12.075" v="10" actId="2711"/>
      <pc:docMkLst>
        <pc:docMk/>
      </pc:docMkLst>
      <pc:sldChg chg="modSp mod">
        <pc:chgData name="Haider Yesid Fonseca Najar" userId="73f9163c-41a4-46db-a396-54c94cc9cf95" providerId="ADAL" clId="{8AF7FC4C-CF9B-4A6B-AAD0-0DBF7EC8CD02}" dt="2026-09-30T09:12:05.286" v="0" actId="2711"/>
        <pc:sldMkLst>
          <pc:docMk/>
          <pc:sldMk cId="0" sldId="262"/>
        </pc:sldMkLst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3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2:05.286" v="0" actId="2711"/>
          <ac:spMkLst>
            <pc:docMk/>
            <pc:sldMk cId="0" sldId="262"/>
            <ac:spMk id="11" creationId="{00000000-0000-0000-0000-000000000000}"/>
          </ac:spMkLst>
        </pc:spChg>
      </pc:sldChg>
      <pc:sldChg chg="addSp modSp mod">
        <pc:chgData name="Haider Yesid Fonseca Najar" userId="73f9163c-41a4-46db-a396-54c94cc9cf95" providerId="ADAL" clId="{8AF7FC4C-CF9B-4A6B-AAD0-0DBF7EC8CD02}" dt="2026-09-30T09:49:37.781" v="6" actId="20577"/>
        <pc:sldMkLst>
          <pc:docMk/>
          <pc:sldMk cId="0" sldId="264"/>
        </pc:sldMkLst>
        <pc:spChg chg="mod">
          <ac:chgData name="Haider Yesid Fonseca Najar" userId="73f9163c-41a4-46db-a396-54c94cc9cf95" providerId="ADAL" clId="{8AF7FC4C-CF9B-4A6B-AAD0-0DBF7EC8CD02}" dt="2026-09-30T09:49:07.471" v="3" actId="20577"/>
          <ac:spMkLst>
            <pc:docMk/>
            <pc:sldMk cId="0" sldId="264"/>
            <ac:spMk id="8" creationId="{00000000-0000-0000-0000-000000000000}"/>
          </ac:spMkLst>
        </pc:spChg>
        <pc:spChg chg="add mod">
          <ac:chgData name="Haider Yesid Fonseca Najar" userId="73f9163c-41a4-46db-a396-54c94cc9cf95" providerId="ADAL" clId="{8AF7FC4C-CF9B-4A6B-AAD0-0DBF7EC8CD02}" dt="2026-09-30T09:49:37.781" v="6" actId="20577"/>
          <ac:spMkLst>
            <pc:docMk/>
            <pc:sldMk cId="0" sldId="264"/>
            <ac:spMk id="13" creationId="{D7DDEA43-328F-6695-A8D4-42109B5EF761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11:39:42.819" v="7" actId="2711"/>
        <pc:sldMkLst>
          <pc:docMk/>
          <pc:sldMk cId="0" sldId="269"/>
        </pc:sldMkLst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4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7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9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10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11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1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42.819" v="7" actId="2711"/>
          <ac:spMkLst>
            <pc:docMk/>
            <pc:sldMk cId="0" sldId="269"/>
            <ac:spMk id="13" creationId="{00000000-0000-0000-0000-000000000000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11:39:56.339" v="8" actId="2711"/>
        <pc:sldMkLst>
          <pc:docMk/>
          <pc:sldMk cId="0" sldId="270"/>
        </pc:sldMkLst>
        <pc:spChg chg="mod">
          <ac:chgData name="Haider Yesid Fonseca Najar" userId="73f9163c-41a4-46db-a396-54c94cc9cf95" providerId="ADAL" clId="{8AF7FC4C-CF9B-4A6B-AAD0-0DBF7EC8CD02}" dt="2026-09-30T11:39:56.339" v="8" actId="2711"/>
          <ac:spMkLst>
            <pc:docMk/>
            <pc:sldMk cId="0" sldId="270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56.339" v="8" actId="2711"/>
          <ac:spMkLst>
            <pc:docMk/>
            <pc:sldMk cId="0" sldId="270"/>
            <ac:spMk id="3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56.339" v="8" actId="2711"/>
          <ac:spMkLst>
            <pc:docMk/>
            <pc:sldMk cId="0" sldId="270"/>
            <ac:spMk id="4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56.339" v="8" actId="2711"/>
          <ac:spMkLst>
            <pc:docMk/>
            <pc:sldMk cId="0" sldId="270"/>
            <ac:spMk id="5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56.339" v="8" actId="2711"/>
          <ac:spMkLst>
            <pc:docMk/>
            <pc:sldMk cId="0" sldId="270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56.339" v="8" actId="2711"/>
          <ac:spMkLst>
            <pc:docMk/>
            <pc:sldMk cId="0" sldId="270"/>
            <ac:spMk id="7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56.339" v="8" actId="2711"/>
          <ac:spMkLst>
            <pc:docMk/>
            <pc:sldMk cId="0" sldId="270"/>
            <ac:spMk id="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56.339" v="8" actId="2711"/>
          <ac:spMkLst>
            <pc:docMk/>
            <pc:sldMk cId="0" sldId="270"/>
            <ac:spMk id="9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39:56.339" v="8" actId="2711"/>
          <ac:spMkLst>
            <pc:docMk/>
            <pc:sldMk cId="0" sldId="270"/>
            <ac:spMk id="10" creationId="{00000000-0000-0000-0000-000000000000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11:40:04.543" v="9" actId="2711"/>
        <pc:sldMkLst>
          <pc:docMk/>
          <pc:sldMk cId="0" sldId="271"/>
        </pc:sldMkLst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3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4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5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7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9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10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04.543" v="9" actId="2711"/>
          <ac:spMkLst>
            <pc:docMk/>
            <pc:sldMk cId="0" sldId="271"/>
            <ac:spMk id="11" creationId="{00000000-0000-0000-0000-000000000000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11:40:12.075" v="10" actId="2711"/>
        <pc:sldMkLst>
          <pc:docMk/>
          <pc:sldMk cId="0" sldId="272"/>
        </pc:sldMkLst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3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4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5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9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10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11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0:12.075" v="10" actId="2711"/>
          <ac:spMkLst>
            <pc:docMk/>
            <pc:sldMk cId="0" sldId="272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H0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73.900000000000006</c:v>
                </c:pt>
                <c:pt idx="1">
                  <c:v>26.6</c:v>
                </c:pt>
                <c:pt idx="2">
                  <c:v>12</c:v>
                </c:pt>
                <c:pt idx="3">
                  <c:v>7.6</c:v>
                </c:pt>
                <c:pt idx="4">
                  <c:v>6.2</c:v>
                </c:pt>
                <c:pt idx="5">
                  <c:v>5.6</c:v>
                </c:pt>
                <c:pt idx="6">
                  <c:v>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07-409C-94A0-B0DBF85B6C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H1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71.5</c:v>
                </c:pt>
                <c:pt idx="1">
                  <c:v>25.4</c:v>
                </c:pt>
                <c:pt idx="2">
                  <c:v>12</c:v>
                </c:pt>
                <c:pt idx="3">
                  <c:v>7.8</c:v>
                </c:pt>
                <c:pt idx="4">
                  <c:v>7.3</c:v>
                </c:pt>
                <c:pt idx="5">
                  <c:v>7.1</c:v>
                </c:pt>
                <c:pt idx="6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07-409C-94A0-B0DBF85B6C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H2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72.2</c:v>
                </c:pt>
                <c:pt idx="1">
                  <c:v>25.7</c:v>
                </c:pt>
                <c:pt idx="2">
                  <c:v>12</c:v>
                </c:pt>
                <c:pt idx="3">
                  <c:v>7.8</c:v>
                </c:pt>
                <c:pt idx="4">
                  <c:v>7</c:v>
                </c:pt>
                <c:pt idx="5">
                  <c:v>6.8</c:v>
                </c:pt>
                <c:pt idx="6">
                  <c:v>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07-409C-94A0-B0DBF85B6CB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H3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72.900000000000006</c:v>
                </c:pt>
                <c:pt idx="1">
                  <c:v>24.3</c:v>
                </c:pt>
                <c:pt idx="2">
                  <c:v>10.6</c:v>
                </c:pt>
                <c:pt idx="3">
                  <c:v>6.3</c:v>
                </c:pt>
                <c:pt idx="4">
                  <c:v>4.8</c:v>
                </c:pt>
                <c:pt idx="5">
                  <c:v>4.4000000000000004</c:v>
                </c:pt>
                <c:pt idx="6">
                  <c:v>4.0999999999999996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07-409C-94A0-B0DBF85B6C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s-CO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CO"/>
          </a:p>
        </c:txPr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Empty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H0</c:v>
                </c:pt>
                <c:pt idx="1">
                  <c:v>H1</c:v>
                </c:pt>
                <c:pt idx="2">
                  <c:v>H2</c:v>
                </c:pt>
                <c:pt idx="3">
                  <c:v>H3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704</c:v>
                </c:pt>
                <c:pt idx="1">
                  <c:v>307.8</c:v>
                </c:pt>
                <c:pt idx="2">
                  <c:v>303</c:v>
                </c:pt>
                <c:pt idx="3">
                  <c:v>200.6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97-409D-B5A2-DA555072BA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Loaded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H0</c:v>
                </c:pt>
                <c:pt idx="1">
                  <c:v>H1</c:v>
                </c:pt>
                <c:pt idx="2">
                  <c:v>H2</c:v>
                </c:pt>
                <c:pt idx="3">
                  <c:v>H3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564.6</c:v>
                </c:pt>
                <c:pt idx="1">
                  <c:v>540.6</c:v>
                </c:pt>
                <c:pt idx="2">
                  <c:v>546.79999999999995</c:v>
                </c:pt>
                <c:pt idx="3">
                  <c:v>602.6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97-409D-B5A2-DA555072BA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s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CO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Fleet waiting/free %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H0</c:v>
                </c:pt>
                <c:pt idx="1">
                  <c:v>H1</c:v>
                </c:pt>
                <c:pt idx="2">
                  <c:v>H2</c:v>
                </c:pt>
                <c:pt idx="3">
                  <c:v>H3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26.28</c:v>
                </c:pt>
                <c:pt idx="1">
                  <c:v>50.79</c:v>
                </c:pt>
                <c:pt idx="2">
                  <c:v>51.34</c:v>
                </c:pt>
                <c:pt idx="3">
                  <c:v>54.25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7B-4F15-B1E8-A7A0827670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s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CO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3716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  <a:latin typeface="Aptos"/>
              </a:rPr>
              <a:t>Schedule-Free Autonomous Passenger Boats in Bergen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4688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64646"/>
                </a:solidFill>
                <a:latin typeface="Aptos"/>
              </a:rPr>
              <a:t>From navigable routes and synthetic demand to heuristics and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87878"/>
                </a:solidFill>
                <a:latin typeface="Aptos"/>
              </a:rPr>
              <a:t>Master's project — NHH Norwegian School of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87878"/>
                </a:solidFill>
                <a:latin typeface="Aptos"/>
              </a:rPr>
              <a:t>Haider Yesid Fonseca Najar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87878"/>
                </a:solidFill>
                <a:latin typeface="Aptos"/>
              </a:rPr>
              <a:t>Bergen,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project asks how a schedule-free water-taxi service can dispatch a fleet in real time when demand is stochastic.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Problem → data → heuristics → fleet sensitivity → reward design → PPO → final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Problem and motivation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Network and navigable routes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Demand generation and assumptions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Simulation and metrics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H0 → H1 → H2 → H3 heuristics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Fleet-size sensitivity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Reward experiments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PPO formulation and final training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H0 / H3 / PPO comparison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Conclusions and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1. Problem: a schedule-free water taxi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This is a dynamic dispatch problem, not a fixed timetable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Passengers arrive dynamically at multiple waterfront nodes.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There is no fixed timetable: boats decide where to go every decision epoch.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A free boat can serve local demand, reposition toward remote demand, or wait.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The fleet must reduce passenger waiting while avoiding unnecessary empty movements.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Research question: how should a stochastic fleet be dispatched using only currently observable demand?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749039"/>
            <a:ext cx="4114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38587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Core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4224527"/>
            <a:ext cx="38404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Aptos"/>
              </a:rPr>
              <a:t>For every free boat: where should it go now — or should it wait?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2. Research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Bergen literature motivates autonomous ferries; this project focuses on the real-time dispatch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Braathen, Góez &amp; Guajardo (2024) study autonomous versus crewed ferry operations in Bergen.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Their models construct passenger transportation plans and identify potential benefits of autonomy, especially in low-demand hours.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This project instead studies schedule-free, real-time fleet dispatch under stochastic arrivals.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The contribution is a common simulation environment for transparent heuristics and PPO.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Aptos"/>
              </a:rPr>
              <a:t>Braathen, C., Góez, J. C., &amp; Guajardo, M. (2024). Maritime Transport Research, 7, 100115. DOI: 10.1016/j.martra.2024.100115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Geography defines the routes, demand generates requests, the simulator exposes the state, and the policy decides.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1. 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Aptos"/>
              </a:rPr>
              <a:t>4 demand nodes
Water-based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481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2.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47088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Aptos"/>
              </a:rPr>
              <a:t>OD intensity
Time-varying arrivals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3.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Aptos"/>
              </a:rPr>
              <a:t>2-min steps
Queues + boats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481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4.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47088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Aptos"/>
              </a:rPr>
              <a:t>H0–H3
PPO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77639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ptos"/>
              </a:rPr>
              <a:t>Same simulator • same demand • same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4. Navigable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rgbClr val="141414"/>
                </a:solidFill>
                <a:latin typeface="Georgia" panose="02040502050405020303" pitchFamily="18" charset="0"/>
              </a:rPr>
              <a:t>4. Navigable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Georgia" panose="02040502050405020303" pitchFamily="18" charset="0"/>
              </a:rPr>
              <a:t>Four demand nodes → six pairwise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Georgia" panose="02040502050405020303" pitchFamily="18" charset="0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Georgia" panose="02040502050405020303" pitchFamily="18" charset="0"/>
              </a:rPr>
              <a:t>SAY: Before dispatching anything, we need realistic routes and travel times that do not cross land.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97280"/>
            <a:ext cx="6492240" cy="457200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26187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 panose="02040502050405020303" pitchFamily="18" charset="0"/>
              </a:rPr>
              <a:t>Navigable route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61264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Georgia" panose="02040502050405020303" pitchFamily="18" charset="0"/>
              </a:rPr>
              <a:t>INSERT FIGURE / MEDIA
bergen-boats/02_ruteo_navegable/output/mapa_rutas_navegables.png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280160"/>
            <a:ext cx="411480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Georgia" panose="02040502050405020303" pitchFamily="18" charset="0"/>
              </a:rPr>
              <a:t>• </a:t>
            </a:r>
            <a:r>
              <a:rPr dirty="0" err="1">
                <a:latin typeface="Georgia" panose="02040502050405020303" pitchFamily="18" charset="0"/>
              </a:rPr>
              <a:t>Bryggen</a:t>
            </a:r>
            <a:r>
              <a:rPr dirty="0">
                <a:latin typeface="Georgia" panose="02040502050405020303" pitchFamily="18" charset="0"/>
              </a:rPr>
              <a:t>, </a:t>
            </a:r>
            <a:r>
              <a:rPr dirty="0" err="1">
                <a:latin typeface="Georgia" panose="02040502050405020303" pitchFamily="18" charset="0"/>
              </a:rPr>
              <a:t>Kleppestø</a:t>
            </a:r>
            <a:r>
              <a:rPr dirty="0">
                <a:latin typeface="Georgia" panose="02040502050405020303" pitchFamily="18" charset="0"/>
              </a:rPr>
              <a:t>, </a:t>
            </a:r>
            <a:r>
              <a:rPr dirty="0" err="1">
                <a:latin typeface="Georgia" panose="02040502050405020303" pitchFamily="18" charset="0"/>
              </a:rPr>
              <a:t>Laksevåg</a:t>
            </a:r>
            <a:r>
              <a:rPr dirty="0">
                <a:latin typeface="Georgia" panose="02040502050405020303" pitchFamily="18" charset="0"/>
              </a:rPr>
              <a:t> and Sandviken.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Georgia" panose="02040502050405020303" pitchFamily="18" charset="0"/>
              </a:rPr>
              <a:t>• Six pairwise connections.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Georgia" panose="02040502050405020303" pitchFamily="18" charset="0"/>
              </a:rPr>
              <a:t>• Dijkstra over a water-classified map.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Georgia" panose="02040502050405020303" pitchFamily="18" charset="0"/>
              </a:rPr>
              <a:t>• Travel-time matrix is fixed and reused by all modules.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Georgia" panose="02040502050405020303" pitchFamily="18" charset="0"/>
              </a:rPr>
              <a:t>• Final configuration uses 30 km/h effective speed.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5. Route assumptions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10881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Element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Final choice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Network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4 demand nodes; 6 pairwise connections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Route calculation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Shortest navigable path over water; Dijkstra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Speed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30 km/h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Decision interval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Every 2 minutes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Travel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Direct origin → destination; no multi-stop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Capacity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30 passengers in final PPO scenario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Transit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Boats cannot be redirected mid-route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6. Demand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Synthetic demand anchored in open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service does not exist, so there is no observed ridership. The model therefore constructs realistic demand patterns from spatial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486400" cy="3249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/>
              <a:t>• Population/spatial information is used to construct OD demand intensity.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/>
              <a:t>• A gravity-style formulation combines origin mass, destination attractiveness and distance decay.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/>
              <a:t>• Time-of-day roles create different directional patterns.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/>
              <a:t>• Arrivals are stochastic; training can therefore see fresh demand realizations.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/>
              <a:t>• The final fleet/PPO scenario uses a 10% demand scale.</a:t>
            </a:r>
            <a:endParaRPr lang="es-MX" dirty="0"/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46520" y="1280160"/>
            <a:ext cx="502920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44475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Demand / OD 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199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demand/output/ or demand/notebooks/02_patron_od.ipynb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7DDEA43-328F-6695-A8D4-42109B5EF761}"/>
              </a:ext>
            </a:extLst>
          </p:cNvPr>
          <p:cNvSpPr/>
          <p:nvPr/>
        </p:nvSpPr>
        <p:spPr>
          <a:xfrm>
            <a:off x="640080" y="393540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flow(i,j) = mass_origin(i) x </a:t>
            </a:r>
            <a:r>
              <a:rPr lang="en-US" sz="1300" dirty="0" err="1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mass_dest</a:t>
            </a: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(j) x exp( - time(i,j) / tau 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7. Demand intensity as an experimental parameter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demand scale is a controlled stress parameter, not a claim about future ridership.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Low demand emphasizes idle capacity and unnecessary repositioning.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Higher demand increases queue pressure and waiting time.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Fleet-size experiments therefore reveal how much capacity is needed for a given demand level.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The final comparison fixes demand at 10% so H0, H3 and PPO face exactly the same workload.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280160"/>
            <a:ext cx="502920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44475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Demand sensitivity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43199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Insert demand-by-time / demand-level plot from demand notebooks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8. Simulation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Every policy sees the same state and cannot use demand that has not arrived.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1. Observe queues, boat positions and free/occupied status.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2. Each free boat chooses one destination or waits.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3. The chosen OD queue boards FIFO passengers up to capacity.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4. Advance the clock by 2 minutes.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5. Arriving boats unload; new arrivals become visible only at the next decision.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6. Repeat until the horizon 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846320"/>
            <a:ext cx="6675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Information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32180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Aptos"/>
              </a:rPr>
              <a:t>No policy sees future arrivals.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rgbClr val="141414"/>
                </a:solidFill>
                <a:latin typeface="Aptos"/>
              </a:rPr>
              <a:t>9.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Operational outcomes, not reward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final comparison is based on passenger and fleet outcomes, not on the numerical reward.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0972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Metric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Mean wait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Typical passenger waiting time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P95 / max wait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Tail and worst-case waiting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 system time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Waiting + in-boat travel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% served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Completed trips before horizon end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Final backlog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Still queued or onboard at horizon end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Empty movements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Repositioning without passengers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Fleet waiting/free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Share of fleet time not serving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508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787878"/>
                </a:solidFill>
                <a:latin typeface="Apto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15544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41414"/>
                </a:solidFill>
                <a:latin typeface="Aptos"/>
              </a:rPr>
              <a:t>Heuristic dispatch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2743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87878"/>
                </a:solidFill>
                <a:latin typeface="Aptos"/>
              </a:rPr>
              <a:t>Each section answers one question and builds on the previous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heuristic stage builds a transparent sequence: each new policy adds one idea.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 panose="02040502050405020303" pitchFamily="18" charset="0"/>
              </a:rPr>
              <a:t>10. H0 — Reference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787878"/>
                </a:solidFill>
                <a:latin typeface="Georgia" panose="02040502050405020303" pitchFamily="18" charset="0"/>
              </a:rPr>
              <a:t>Nearest-available, local-first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Georgia" panose="02040502050405020303" pitchFamily="18" charset="0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Georgia" panose="02040502050405020303" pitchFamily="18" charset="0"/>
              </a:rPr>
              <a:t>SAY: H0 serves local demand first; if none exists, it repositions toward the most urgent remote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34416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Georgia" panose="02040502050405020303" pitchFamily="18" charset="0"/>
              </a:rPr>
              <a:t>Decision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50292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464646"/>
                </a:solidFill>
                <a:latin typeface="Georgia" panose="02040502050405020303" pitchFamily="18" charset="0"/>
              </a:rPr>
              <a:t>1. Local demand exists → destination with oldest waiting passenger.
2. No local demand → remote queue with greatest waiting time; tie-break by travel time.
3. No demand → wait.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34440"/>
            <a:ext cx="50292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1344168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Georgia" panose="02040502050405020303" pitchFamily="18" charset="0"/>
              </a:rPr>
              <a:t>Why H0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09928"/>
            <a:ext cx="47548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Georgia" panose="02040502050405020303" pitchFamily="18" charset="0"/>
              </a:rPr>
              <a:t>Transparent
No calibrated weights
No forecasting
Strong reference policy
Same simulator as every later policy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 panose="02040502050405020303" pitchFamily="18" charset="0"/>
              </a:rPr>
              <a:t>11. H1 — Persistent reservations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Georgia" panose="02040502050405020303" pitchFamily="18" charset="0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Georgia" panose="02040502050405020303" pitchFamily="18" charset="0"/>
              </a:rPr>
              <a:t>SAY: H1 keeps H0's dispatch rule but prevents multiple free boats from chasing the same remote queue.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64008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H1 = H0 + persistent reservation.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A repositioning boat reserves its remote OD queue.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The reservation remains active while the boat is committed.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Other free boats discount reserved capacity.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This fixes a coordination problem across decision epochs.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280160"/>
            <a:ext cx="429768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52360" y="144475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 panose="02040502050405020303" pitchFamily="18" charset="0"/>
              </a:rPr>
              <a:t>H1 animation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743199"/>
            <a:ext cx="3931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Georgia" panose="02040502050405020303" pitchFamily="18" charset="0"/>
              </a:rPr>
              <a:t>INSERT FIGURE / MEDIA
heuristicas/outputs/figuras/ (H1 GIF)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 panose="02040502050405020303" pitchFamily="18" charset="0"/>
              </a:rPr>
              <a:t>12. H2 — Cost within local/remote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Georgia" panose="02040502050405020303" pitchFamily="18" charset="0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Georgia" panose="02040502050405020303" pitchFamily="18" charset="0"/>
              </a:rPr>
              <a:t>SAY: H2 adds a cost function but preserves strict local-first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943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Georgia" panose="02040502050405020303" pitchFamily="18" charset="0"/>
              </a:rPr>
              <a:t>C(b,q) = T_pickup(b,q) − W_max(q)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6400800" cy="1797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T_pickup = time for boat b to reach queue origin.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W_max = waiting time of oldest passenger.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Local demand → compare only local queues.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No local demand → compare only remote queues.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For local queues T_pickup = 0, so H2 reproduces H0 locally.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The cost mainly changes which remote queue is selected.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280160"/>
            <a:ext cx="411480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144475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 panose="02040502050405020303" pitchFamily="18" charset="0"/>
              </a:rPr>
              <a:t>H2 animation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743199"/>
            <a:ext cx="37490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Georgia" panose="02040502050405020303" pitchFamily="18" charset="0"/>
              </a:rPr>
              <a:t>INSERT FIGURE / MEDIA
heuristicas/outputs/figuras/ (H2 GIF)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 panose="02040502050405020303" pitchFamily="18" charset="0"/>
              </a:rPr>
              <a:t>13. H3 — Global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Georgia" panose="02040502050405020303" pitchFamily="18" charset="0"/>
              </a:rPr>
              <a:t>The key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Georgia" panose="02040502050405020303" pitchFamily="18" charset="0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Georgia" panose="02040502050405020303" pitchFamily="18" charset="0"/>
              </a:rPr>
              <a:t>SAY: H3 removes the local-first partition: every queue competes globally using the same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943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Georgia" panose="02040502050405020303" pitchFamily="18" charset="0"/>
              </a:rPr>
              <a:t>C(b,q) = T_pickup(b,q) − W_max(q)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649224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Local and remote queues compete simultaneously.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Choose the minimum-cost queue.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A remote queue can beat a local queue only when its waiting-time advantage is large enough.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Threshold: W_remote &gt; T_pickup + W_local.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This explicitly trades urgency against repositioning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280160"/>
            <a:ext cx="402336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35240" y="1444751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 panose="02040502050405020303" pitchFamily="18" charset="0"/>
              </a:rPr>
              <a:t>H3 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2743199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Georgia" panose="02040502050405020303" pitchFamily="18" charset="0"/>
              </a:rPr>
              <a:t>INSERT FIGURE / MEDIA
heuristicas/outputs/figuras/ (H3 GIF)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14. Controlled tests before fleet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Small constructed cases verify the logic before using aggregate performance results.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51560"/>
          <a:ext cx="11384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Two boats, same remote queue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Avoid duplicate repositioning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H1–H3 coordinate; H0 exposes known baseline issue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Reservation + new arrivals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Persistence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Reservation remains active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Demand &gt; capacity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Boarding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FIFO up to capacity; queue remains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Local vs remote urgency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Cost threshold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H2 stays local; H3 crosses threshold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No demand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Idle rule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Policies wait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15. Heuristics: fleet-size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5 seeds × fleet sizes 4–16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H3's advantage becomes visible when we vary fleet size under identical demand and simulation conditions.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09728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132588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At 12 boats: H3 = 4.81 min mean wait.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H0 = 6.18; H1 = 7.30; H2 = 6.95.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H3 improves mean waiting time across the tested fleet sizes.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Benefits of extra boats show diminishing returns.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16. Heuristics at 12 boats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Full day, 10% demand, capacity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Twelve boats is the fleet size carried into the final PPO comparison.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960120"/>
          <a:ext cx="116586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78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Metric (12 boats)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H0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H1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H2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H3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Served (%)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99.58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99.46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99.36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99.61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Final backlog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34.2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44.0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52.8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31.8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 wait (min)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6.18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7.30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6.95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4.81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P95 wait (min)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15.71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17.71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17.48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12.27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Max wait (min)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28.03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37.28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31.64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18.36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 travel (min)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9.79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9.79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9.79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9.79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 system (min)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15.97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17.09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16.74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14.60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Total movements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1268.6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848.4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849.8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803.2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Empty movements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704.0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307.8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303.0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200.6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Loaded movements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564.6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540.6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546.8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602.6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Fleet occupancy (%)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16.31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16.29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16.28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16.32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0384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Fleet waiting/free (%)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26.28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50.79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51.34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54.25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464646"/>
                </a:solidFill>
                <a:latin typeface="Aptos"/>
              </a:rPr>
              <a:t>H3 combines lower passenger waiting with fewer empty movements than the other heuristic policies.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17. What changes operationally at 12 boats?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H3 is not simply moving more: it has fewer empty movements and more loaded movements.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143000"/>
          <a:ext cx="56692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92240" y="1143000"/>
          <a:ext cx="49377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6692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64646"/>
                </a:solidFill>
                <a:latin typeface="Aptos"/>
              </a:rPr>
              <a:t>At 12 boats, demand does not require the whole fleet continuously; a large idle share is therefore expected.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18. Heuristic visual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Use animations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animations show the actual dispatch behavior behind the averages.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743200" cy="429768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99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H0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heuristicas/outputs/figuras/h0*.gif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743200" cy="429768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399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63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heuristicas/outputs/figuras/h1*.gif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2743200" cy="429768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heuristicas/outputs/figuras/h2*.gif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34440"/>
            <a:ext cx="2743200" cy="429768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399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3063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heuristicas/outputs/figuras/h3*.gif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508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787878"/>
                </a:solidFill>
                <a:latin typeface="Apto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15544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41414"/>
                </a:solidFill>
                <a:latin typeface="Aptos"/>
              </a:rPr>
              <a:t>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2743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87878"/>
                </a:solidFill>
                <a:latin typeface="Aptos"/>
              </a:rPr>
              <a:t>Each section answers one question and builds on the previous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heuristics establish a strong transparent baseline. PPO asks whether a learned policy can discover useful dispatch behavior.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19. PPO as a sequential decision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simulator is formulated as an MDP: state, action, transition, reward and repeated interaction.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972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Project definition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State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Queues, boat locations, in-transit status, onboard passengers and time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One destination/wait choice per free boat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Action space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MultiDiscrete: 5 choices per boat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Transition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2-minute step; boarding, travel, arrivals, new demand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Reward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Passenger-time penalty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Policy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PPO actor-critic trained from simulation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20. How PPO works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PPO collects experience, estimates how good the decisions were, and updates the policy conservatively.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017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356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1. 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01368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Aptos"/>
              </a:rPr>
              <a:t>Queues
Boat positions
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3017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4356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2.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01368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Aptos"/>
              </a:rPr>
              <a:t>One action per free boat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325880"/>
            <a:ext cx="3017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4356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3. 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01368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64646"/>
                </a:solidFill>
                <a:latin typeface="Aptos"/>
              </a:rPr>
              <a:t>Rollout
Advantage
Clipped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805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ptos"/>
              </a:rPr>
              <a:t>Repeat across many stochastic demand realizations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21. Reward design: what should PPO optimize?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reward is a modeling decision: it translates the operational objective into the learning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The passenger-centered objective is to reduce time spent in the system.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Movement matters operationally, but mixing movement directly into the reward introduces a scale trade-off.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The reward study therefore tests multiple formulations before choosing the final one.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All reward formulations are compared using real simulator metrics, not reward magnitude.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41414"/>
                </a:solidFill>
                <a:latin typeface="Aptos"/>
              </a:rPr>
              <a:t>Principle: choose the reward because of the policy it produces.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22. Reward experiments: operational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Historical reward-selection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D produced the strongest documented passenger-time profile among the tested formulations.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960120"/>
          <a:ext cx="117043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2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2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2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2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2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4365"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Reward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Concept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 system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Max system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 wait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Moves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Served*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Quadratic excess after 12 min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29.02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60.77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17.06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191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88.0%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B + potential shaping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29.25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74.07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20.21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193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84.47%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Pure quadratic time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25.73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51.92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16.21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174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84.47%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Linear raw time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41.06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123.13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24.41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172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74.82%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Quadratic raw time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33.05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81.13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22.78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183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75.88%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Incremental time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33.46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109.74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20.72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169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74.35%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95/5 time + movement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37.15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103.74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24.94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194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81.41%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989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Aptos"/>
              </a:rPr>
              <a:t>*Served is contextual; selection focuses on passenger time and movements.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D: 25.73 min mean system • 51.92 min maximum system • 16.21 min mean wait • 174 movements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23. Final reward choice: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D gives an increasingly strong penalty to long passenger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41414"/>
                </a:solidFill>
                <a:latin typeface="Aptos"/>
              </a:rPr>
              <a:t>Rₜ = − Σᵢ (Tᵢ,ₜ / 12)²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T is accumulated passenger time in the system.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The square makes long delays disproportionately expensive.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12 minutes is a reference scale, not a hard service guarantee.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No movement penalty is included in D.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VecNormalize is used during PPO training and evaluation.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464646"/>
                </a:solidFill>
                <a:latin typeface="Aptos"/>
              </a:rPr>
              <a:t>Example: 24 minutes gives 4× the squared-time penalty of 12 minutes.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24. Final PPO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Full-day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final experiment moves from the small reward-selection instance to the full-day 12-boat scenario.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960120"/>
          <a:ext cx="109728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44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Final value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Demand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Window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06:00–24:00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Time step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 min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Episode length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540 steps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Fleet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12 boats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Capacity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30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Reward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n_steps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540 — one full day per rollout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Total timesteps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1,000,000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Training seed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123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Evaluation seeds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1001–1005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44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VecNormalize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25. Why 540 steps and 1,000,000 timesteps?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A full day is exactly 540 two-minute steps, and the final training budget is deliberately large enough for a long-horizon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18 hours = 1,080 minutes.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1,080 / 2 = 540 steps per episode.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n_steps = 540 makes each PPO rollout one complete operating day.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1,000,000 timesteps correspond to about 1,852 rollouts/updates.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This is a training-budget choice, not a claim that 1M is mathematically optimal.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414"/>
                </a:solidFill>
                <a:latin typeface="Aptos"/>
              </a:rPr>
              <a:t>Final experiment: 12 boats • 10% demand • 06:00–24:00 • capacity 30 • reward 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26. PPO 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To be filled from the 1M-timestep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Do not invent these numbers. Insert the final evaluation over seeds 1001–1005 when the training run finishes.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97280"/>
            <a:ext cx="10972800" cy="44805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PPO evaluation table / plots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modelo_rl/modelos/ppo_dia_10pct_12barcos_reward_D_1M/ + evaluation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64646"/>
                </a:solidFill>
                <a:latin typeface="Aptos"/>
              </a:rPr>
              <a:t>Use operational metrics: mean wait, P95 wait, max wait, system time, backlog, served %, total and empty movements.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27. Final comparison: H0 vs H3 vs PPO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Same demand seeds, same simulator, same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This is the key scientific comparison. Interpret each metric separately.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928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3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3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H0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H3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PPO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 wait (min)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6.18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4.81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INSERT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P95 wait (min)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15.71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12.27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INSERT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Max wait (min)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28.03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18.36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INSERT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 system (min)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15.97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14.60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INSERT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Served (%)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99.58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99.61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INSERT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Final backlog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34.2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31.8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INSERT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Total movements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1268.6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803.2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INSERT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Empty movements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704.0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200.6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INSERT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Fleet waiting/free (%)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26.28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54.25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INSERT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PPO cells are intentionally left for the final 1M-timestep evaluation.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28. Metric-by-metric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Recommended final results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Mean wait is typical experience; P95/max show tail risk; system time captures the full journey; empty movements show fleet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97280"/>
            <a:ext cx="10972800" cy="44805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Four-panel final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Create from final evaluation CSV: wait / P95 / system time / empty movements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29. Final visual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ptos"/>
              </a:rPr>
              <a:t>H0 vs H3 vs 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final animations make the behavioral differences visible, not just the averages.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3474720" cy="416052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H0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8609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heuristicas/outputs/figuras/h0*.gif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3474720" cy="416052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H3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8609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heuristicas/outputs/figuras/h3*.gif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325880"/>
            <a:ext cx="3474720" cy="416052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490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PPO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8609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Aptos"/>
              </a:rPr>
              <a:t>INSERT FIGURE / MEDIA
PPO final GIF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30.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contribution is the complete experimental chain: network → demand → simulator → heuristics → reward design → PPO.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A complete simulation pipeline was built for schedule-free passenger boat dispatch in Bergen.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Navigable routes were generated from geography and reused consistently across experiments.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Synthetic demand combines spatial and temporal assumptions with stochastic arrivals.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H0–H3 were developed incrementally and validated through controlled cases.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H3 is the strongest documented heuristic in the 4–16 boat fleet sweep.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Reward design materially changes PPO behavior; D was selected from the reward experiments.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The final PPO experiment tests whether learned dispatch can compete with transparent real-time rules.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31. Limitations and what the results do NOT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These limitations define the scope of the conclusions.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Demand is synthetic because the service does not yet exist; it is not validated against observed ridership.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Passengers do not abandon the system because of waiting.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Heuristics do not forecast future demand and do not use multi-stop trips.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The comparison is against dispatch heuristics, not a mathematical optimum.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PPO must be tested on additional demand levels and fleet sizes before claiming broad generalization.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The reward search is evidence-based, not exhaustive.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32.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Aptos"/>
              </a:rPr>
              <a:t>SAY: The natural next step is generalization and robustness, not arbitrary tuning.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Evaluate PPO across additional demand realizations and fleet sizes.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Test generalization across demand intensities and time-of-day profiles.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Investigate variable fleet sizing across the day, motivated by idle capacity at lower demand.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If needed, introduce passenger service guarantees or patience as a separate modeling extension.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Future work could compare against a stronger optimization benchmark.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33. 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Braathen, C., Góez, J. C., &amp; Guajardo, M. (2024). Autonomous ferries in light of labor regulations — A passenger perspective. Maritime Transport Research, 7, 100115.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Schulman, J. et al. (2017). Proximal Policy Optimization Algorithms.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Ng, A. Y., Harada, D., &amp; Russell, S. (1999). Policy invariance under reward transformations: Theory and application to reward shaping.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Project repository: HaiderFonseca/NHH-Schedule-Free-Autonomous-Boats-in-Bergen.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1414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>
                <a:solidFill>
                  <a:srgbClr val="141414"/>
                </a:solidFill>
                <a:latin typeface="Aptos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3886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464646"/>
                </a:solidFill>
                <a:latin typeface="Aptos"/>
              </a:rPr>
              <a:t>The central question is how much can be gained by moving from transparent dispatch rules to a learned real-time policy.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BACKUP — Metric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Definition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pct_atendidas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Completed trips / generated demand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backlog_final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Still queued + onboard at horizon end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wait mean/P95/max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Completed passengers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system mean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Wait + travel for completed passengers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occupancy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Mean onboard / capacity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fleet waiting/free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Average share of boat-time free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BACKUP — Heuristic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Policy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Reservation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Cost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Rule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None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Local-first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None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Local-first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T_pickup−W_max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Local-first, cost within class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T_pickup−W_max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Global cost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BACKUP — Reward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A: direct accumulated active-person time.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B: quadratic excess after 12 minutes.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C: B + potential-based shaping.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D: pure quadratic passenger time.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E: linear raw time.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F: quadratic raw time.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G: incremental time.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t>• H: 95/5 quadratic time + movement.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BACKUP — Likely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842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Answer</a:t>
                      </a:r>
                    </a:p>
                  </a:txBody>
                  <a:tcPr marL="36576" marR="36576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Why synthetic demand?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The service does not exist; no observed ridership is available.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Why PPO?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MultiDiscrete action: one decision per boat.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Why no MILP?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The project focuses on real-time dispatch and learning.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Why H3?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Strongest documented heuristic in fleet sweep.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Why D?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Strongest documented passenger-time profile in reward experiment.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Why n_steps=540?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 full 06–24 day is 540 two-minute steps.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Does PPO beat H3?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Only answer after final 1M evaluation.</a:t>
                      </a:r>
                    </a:p>
                  </a:txBody>
                  <a:tcPr marL="36576" marR="365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ptos"/>
              </a:rPr>
              <a:t>BACKUP — Figure locations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Aptos"/>
              </a:rPr>
              <a:t>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NHH — Schedule-Free Autonomous Passenger Boats in Bergen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Route map: bergen-boats/02_ruteo_navegable/output/mapa_rutas_navegables.png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Route comparison: bergen-boats/02_ruteo_navegable/output/mapa_zoom_bryggen_comparacion.png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Water mask: bergen-boats/02_ruteo_navegable/output/mapa_mascara_agua.png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Travel-time heatmap: bergen-boats/02_ruteo_navegable/output/heatmap_tiempos_navegables.png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Heuristic GIFs: heuristicas/outputs/figuras/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Fleet plots: heuristicas/notebooks/03_comparacion_flota.ipynb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• Demand plots: demand/output/ and demand/notebooks/02_patron_od.ipynb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4128</Words>
  <Application>Microsoft Office PowerPoint</Application>
  <PresentationFormat>Panorámica</PresentationFormat>
  <Paragraphs>661</Paragraphs>
  <Slides>44</Slides>
  <Notes>0</Notes>
  <HiddenSlides>5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0" baseType="lpstr">
      <vt:lpstr>Aptos</vt:lpstr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Schedule-Free Autonomous Passenger Boats in Bergen</dc:title>
  <dc:subject>Master's project presentation</dc:subject>
  <dc:creator>Haider Yesid Fonseca Najar</dc:creator>
  <cp:keywords/>
  <dc:description>generated using python-pptx</dc:description>
  <cp:lastModifiedBy>Haider Yesid Fonseca Najar</cp:lastModifiedBy>
  <cp:revision>1</cp:revision>
  <dcterms:created xsi:type="dcterms:W3CDTF">2013-01-27T09:14:16Z</dcterms:created>
  <dcterms:modified xsi:type="dcterms:W3CDTF">2026-09-30T11:40:12Z</dcterms:modified>
  <cp:category/>
</cp:coreProperties>
</file>